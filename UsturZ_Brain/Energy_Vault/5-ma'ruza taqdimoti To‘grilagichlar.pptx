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5" r:id="rId1"/>
  </p:sldMasterIdLst>
  <p:sldIdLst>
    <p:sldId id="257" r:id="rId2"/>
    <p:sldId id="259" r:id="rId3"/>
    <p:sldId id="260" r:id="rId4"/>
    <p:sldId id="282" r:id="rId5"/>
    <p:sldId id="265" r:id="rId6"/>
    <p:sldId id="266" r:id="rId7"/>
    <p:sldId id="267" r:id="rId8"/>
    <p:sldId id="262" r:id="rId9"/>
    <p:sldId id="268" r:id="rId10"/>
    <p:sldId id="269" r:id="rId11"/>
    <p:sldId id="278" r:id="rId12"/>
    <p:sldId id="277" r:id="rId13"/>
    <p:sldId id="279" r:id="rId14"/>
    <p:sldId id="280" r:id="rId15"/>
    <p:sldId id="270" r:id="rId16"/>
    <p:sldId id="271" r:id="rId17"/>
    <p:sldId id="273" r:id="rId18"/>
    <p:sldId id="272" r:id="rId19"/>
    <p:sldId id="274" r:id="rId20"/>
    <p:sldId id="275" r:id="rId21"/>
    <p:sldId id="276" r:id="rId2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55" d="100"/>
          <a:sy n="55" d="100"/>
        </p:scale>
        <p:origin x="614" y="5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ru-RU" smtClean="0"/>
              <a:t>Образец заголовка</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796E945-532A-4FFC-88FC-72837DCBB4AF}" type="datetimeFigureOut">
              <a:rPr lang="ru-RU" smtClean="0"/>
              <a:t>02.11.2021</a:t>
            </a:fld>
            <a:endParaRPr lang="ru-RU"/>
          </a:p>
        </p:txBody>
      </p:sp>
      <p:sp>
        <p:nvSpPr>
          <p:cNvPr id="5" name="Footer Placeholder 4"/>
          <p:cNvSpPr>
            <a:spLocks noGrp="1"/>
          </p:cNvSpPr>
          <p:nvPr>
            <p:ph type="ftr" sz="quarter" idx="11"/>
          </p:nvPr>
        </p:nvSpPr>
        <p:spPr>
          <a:xfrm>
            <a:off x="2692397" y="5037663"/>
            <a:ext cx="5214635" cy="279400"/>
          </a:xfrm>
        </p:spPr>
        <p:txBody>
          <a:bodyPr/>
          <a:lstStyle/>
          <a:p>
            <a:endParaRPr lang="ru-RU"/>
          </a:p>
        </p:txBody>
      </p:sp>
      <p:sp>
        <p:nvSpPr>
          <p:cNvPr id="6" name="Slide Number Placeholder 5"/>
          <p:cNvSpPr>
            <a:spLocks noGrp="1"/>
          </p:cNvSpPr>
          <p:nvPr>
            <p:ph type="sldNum" sz="quarter" idx="12"/>
          </p:nvPr>
        </p:nvSpPr>
        <p:spPr>
          <a:xfrm>
            <a:off x="8956900" y="5037663"/>
            <a:ext cx="551167" cy="279400"/>
          </a:xfrm>
        </p:spPr>
        <p:txBody>
          <a:bodyPr/>
          <a:lstStyle/>
          <a:p>
            <a:fld id="{0CC126E0-4A90-4DB0-A4E7-0B85C46C1848}" type="slidenum">
              <a:rPr lang="ru-RU" smtClean="0"/>
              <a:t>‹#›</a:t>
            </a:fld>
            <a:endParaRPr lang="ru-RU"/>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4355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0796E945-532A-4FFC-88FC-72837DCBB4AF}" type="datetimeFigureOut">
              <a:rPr lang="ru-RU" smtClean="0"/>
              <a:t>02.11.2021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2820486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0796E945-532A-4FFC-88FC-72837DCBB4AF}" type="datetimeFigureOut">
              <a:rPr lang="ru-RU" smtClean="0"/>
              <a:t>02.11.2021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CC126E0-4A90-4DB0-A4E7-0B85C46C1848}" type="slidenum">
              <a:rPr lang="ru-RU" smtClean="0"/>
              <a:t>‹#›</a:t>
            </a:fld>
            <a:endParaRPr lang="ru-RU"/>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6321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0796E945-532A-4FFC-88FC-72837DCBB4AF}" type="datetimeFigureOut">
              <a:rPr lang="ru-RU" smtClean="0"/>
              <a:t>02.11.2021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CC126E0-4A90-4DB0-A4E7-0B85C46C1848}" type="slidenum">
              <a:rPr lang="ru-RU" smtClean="0"/>
              <a:t>‹#›</a:t>
            </a:fld>
            <a:endParaRPr lang="ru-RU"/>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6109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0796E945-532A-4FFC-88FC-72837DCBB4AF}" type="datetimeFigureOut">
              <a:rPr lang="ru-RU" smtClean="0"/>
              <a:t>02.11.2021</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0CC126E0-4A90-4DB0-A4E7-0B85C46C1848}" type="slidenum">
              <a:rPr lang="ru-RU" smtClean="0"/>
              <a:t>‹#›</a:t>
            </a:fld>
            <a:endParaRPr lang="ru-RU"/>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9828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0796E945-532A-4FFC-88FC-72837DCBB4AF}" type="datetimeFigureOut">
              <a:rPr lang="ru-RU" smtClean="0"/>
              <a:t>02.11.2021</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0CC126E0-4A90-4DB0-A4E7-0B85C46C1848}" type="slidenum">
              <a:rPr lang="ru-RU" smtClean="0"/>
              <a:t>‹#›</a:t>
            </a:fld>
            <a:endParaRPr lang="ru-R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3238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96E945-532A-4FFC-88FC-72837DCBB4AF}" type="datetimeFigureOut">
              <a:rPr lang="ru-RU" smtClean="0"/>
              <a:t>02.11.2021</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869850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0796E945-532A-4FFC-88FC-72837DCBB4AF}" type="datetimeFigureOut">
              <a:rPr lang="ru-RU" smtClean="0"/>
              <a:t>02.11.2021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CC126E0-4A90-4DB0-A4E7-0B85C46C1848}" type="slidenum">
              <a:rPr lang="ru-RU" smtClean="0"/>
              <a:t>‹#›</a:t>
            </a:fld>
            <a:endParaRPr lang="ru-RU"/>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3345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ru-RU" smtClean="0"/>
              <a:t>Образец заголовка</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0796E945-532A-4FFC-88FC-72837DCBB4AF}" type="datetimeFigureOut">
              <a:rPr lang="ru-RU" smtClean="0"/>
              <a:t>02.11.2021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453597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0796E945-532A-4FFC-88FC-72837DCBB4AF}" type="datetimeFigureOut">
              <a:rPr lang="ru-RU" smtClean="0"/>
              <a:t>02.11.2021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947581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0796E945-532A-4FFC-88FC-72837DCBB4AF}" type="datetimeFigureOut">
              <a:rPr lang="ru-RU" smtClean="0"/>
              <a:t>02.11.2021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CC126E0-4A90-4DB0-A4E7-0B85C46C1848}" type="slidenum">
              <a:rPr lang="ru-RU" smtClean="0"/>
              <a:t>‹#›</a:t>
            </a:fld>
            <a:endParaRPr lang="ru-RU"/>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2539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0796E945-532A-4FFC-88FC-72837DCBB4AF}" type="datetimeFigureOut">
              <a:rPr lang="ru-RU" smtClean="0"/>
              <a:t>02.11.2021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CC126E0-4A90-4DB0-A4E7-0B85C46C1848}" type="slidenum">
              <a:rPr lang="ru-RU" smtClean="0"/>
              <a:t>‹#›</a:t>
            </a:fld>
            <a:endParaRPr lang="ru-RU"/>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2924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0796E945-532A-4FFC-88FC-72837DCBB4AF}" type="datetimeFigureOut">
              <a:rPr lang="ru-RU" smtClean="0"/>
              <a:t>02.11.2021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1622746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0796E945-532A-4FFC-88FC-72837DCBB4AF}" type="datetimeFigureOut">
              <a:rPr lang="ru-RU" smtClean="0"/>
              <a:t>02.11.2021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CC126E0-4A90-4DB0-A4E7-0B85C46C1848}" type="slidenum">
              <a:rPr lang="ru-RU" smtClean="0"/>
              <a:t>‹#›</a:t>
            </a:fld>
            <a:endParaRPr lang="ru-RU"/>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7212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ru-RU" smtClean="0"/>
              <a:t>Образец заголовка</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0796E945-532A-4FFC-88FC-72837DCBB4AF}" type="datetimeFigureOut">
              <a:rPr lang="ru-RU" smtClean="0"/>
              <a:t>02.11.2021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CC126E0-4A90-4DB0-A4E7-0B85C46C1848}" type="slidenum">
              <a:rPr lang="ru-RU" smtClean="0"/>
              <a:t>‹#›</a:t>
            </a:fld>
            <a:endParaRPr lang="ru-RU"/>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2650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0796E945-532A-4FFC-88FC-72837DCBB4AF}" type="datetimeFigureOut">
              <a:rPr lang="ru-RU" smtClean="0"/>
              <a:t>02.11.2021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CC126E0-4A90-4DB0-A4E7-0B85C46C1848}" type="slidenum">
              <a:rPr lang="ru-RU" smtClean="0"/>
              <a:t>‹#›</a:t>
            </a:fld>
            <a:endParaRPr lang="ru-R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30640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0796E945-532A-4FFC-88FC-72837DCBB4AF}" type="datetimeFigureOut">
              <a:rPr lang="ru-RU" smtClean="0"/>
              <a:t>02.11.2021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CC126E0-4A90-4DB0-A4E7-0B85C46C1848}" type="slidenum">
              <a:rPr lang="ru-RU" smtClean="0"/>
              <a:t>‹#›</a:t>
            </a:fld>
            <a:endParaRPr lang="ru-RU"/>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988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796E945-532A-4FFC-88FC-72837DCBB4AF}" type="datetimeFigureOut">
              <a:rPr lang="ru-RU" smtClean="0"/>
              <a:t>02.11.2021</a:t>
            </a:fld>
            <a:endParaRPr lang="ru-RU"/>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ru-RU"/>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CC126E0-4A90-4DB0-A4E7-0B85C46C1848}" type="slidenum">
              <a:rPr lang="ru-RU" smtClean="0"/>
              <a:t>‹#›</a:t>
            </a:fld>
            <a:endParaRPr lang="ru-RU"/>
          </a:p>
        </p:txBody>
      </p:sp>
    </p:spTree>
    <p:extLst>
      <p:ext uri="{BB962C8B-B14F-4D97-AF65-F5344CB8AC3E}">
        <p14:creationId xmlns:p14="http://schemas.microsoft.com/office/powerpoint/2010/main" val="3010815614"/>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0" r:id="rId15"/>
    <p:sldLayoutId id="2147483811" r:id="rId16"/>
    <p:sldLayoutId id="2147483812"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43339" y="653143"/>
            <a:ext cx="11809312" cy="6023230"/>
          </a:xfrm>
        </p:spPr>
        <p:txBody>
          <a:bodyPr>
            <a:normAutofit fontScale="25000" lnSpcReduction="20000"/>
          </a:bodyPr>
          <a:lstStyle/>
          <a:p>
            <a:pPr marL="0" indent="0" algn="ctr">
              <a:buNone/>
            </a:pPr>
            <a:endParaRPr lang="ru-RU" b="1" dirty="0" smtClean="0">
              <a:latin typeface="Times New Roman" pitchFamily="18" charset="0"/>
              <a:cs typeface="Times New Roman" pitchFamily="18" charset="0"/>
            </a:endParaRPr>
          </a:p>
          <a:p>
            <a:pPr marL="0" indent="0" algn="ctr">
              <a:buNone/>
            </a:pPr>
            <a:r>
              <a:rPr lang="ru-RU" sz="9600" b="1" dirty="0">
                <a:latin typeface="Times New Roman" pitchFamily="18" charset="0"/>
                <a:cs typeface="Times New Roman" pitchFamily="18" charset="0"/>
              </a:rPr>
              <a:t>ЎЗБЕКИСТОН  РЕСПУБЛИКАСИ</a:t>
            </a:r>
          </a:p>
          <a:p>
            <a:pPr marL="0" indent="0" algn="ctr">
              <a:buNone/>
            </a:pPr>
            <a:r>
              <a:rPr lang="ru-RU" sz="9600" b="1" dirty="0">
                <a:latin typeface="Times New Roman" pitchFamily="18" charset="0"/>
                <a:cs typeface="Times New Roman" pitchFamily="18" charset="0"/>
              </a:rPr>
              <a:t>  ОЛИЙ  ВА </a:t>
            </a:r>
            <a:r>
              <a:rPr lang="ru-RU" sz="9600" dirty="0">
                <a:latin typeface="Times New Roman" pitchFamily="18" charset="0"/>
                <a:cs typeface="Times New Roman" pitchFamily="18" charset="0"/>
              </a:rPr>
              <a:t> </a:t>
            </a:r>
            <a:r>
              <a:rPr lang="ru-RU" sz="9600" b="1" dirty="0">
                <a:latin typeface="Times New Roman" pitchFamily="18" charset="0"/>
                <a:cs typeface="Times New Roman" pitchFamily="18" charset="0"/>
              </a:rPr>
              <a:t>ЎРТА МАХСУС  ТАЪЛИМ  ВАЗИРЛИГИ</a:t>
            </a:r>
            <a:endParaRPr lang="ru-RU" sz="9600" dirty="0">
              <a:latin typeface="Times New Roman" pitchFamily="18" charset="0"/>
              <a:cs typeface="Times New Roman" pitchFamily="18" charset="0"/>
            </a:endParaRPr>
          </a:p>
          <a:p>
            <a:pPr marL="0" indent="0" algn="ctr">
              <a:buNone/>
            </a:pPr>
            <a:r>
              <a:rPr lang="ru-RU" sz="9600" b="1" dirty="0">
                <a:latin typeface="Times New Roman" pitchFamily="18" charset="0"/>
                <a:cs typeface="Times New Roman" pitchFamily="18" charset="0"/>
              </a:rPr>
              <a:t> </a:t>
            </a:r>
            <a:endParaRPr lang="ru-RU" sz="9600" dirty="0">
              <a:latin typeface="Times New Roman" pitchFamily="18" charset="0"/>
              <a:cs typeface="Times New Roman" pitchFamily="18" charset="0"/>
            </a:endParaRPr>
          </a:p>
          <a:p>
            <a:pPr marL="0" indent="0" algn="ctr">
              <a:buNone/>
            </a:pPr>
            <a:r>
              <a:rPr lang="ru-RU" sz="9600" b="1" dirty="0">
                <a:latin typeface="Times New Roman" pitchFamily="18" charset="0"/>
                <a:cs typeface="Times New Roman" pitchFamily="18" charset="0"/>
              </a:rPr>
              <a:t>  ФАРҒОНА  ПОЛИТЕХНИКА  ИНСТИТУТИ</a:t>
            </a:r>
            <a:endParaRPr lang="ru-RU" sz="9600" dirty="0">
              <a:latin typeface="Times New Roman" pitchFamily="18" charset="0"/>
              <a:cs typeface="Times New Roman" pitchFamily="18" charset="0"/>
            </a:endParaRPr>
          </a:p>
          <a:p>
            <a:pPr marL="0" indent="0" algn="ctr">
              <a:buNone/>
            </a:pPr>
            <a:r>
              <a:rPr lang="ru-RU" sz="9600" b="1" dirty="0">
                <a:latin typeface="Times New Roman" pitchFamily="18" charset="0"/>
                <a:cs typeface="Times New Roman" pitchFamily="18" charset="0"/>
              </a:rPr>
              <a:t> </a:t>
            </a:r>
            <a:endParaRPr lang="ru-RU" sz="9600" dirty="0">
              <a:latin typeface="Times New Roman" pitchFamily="18" charset="0"/>
              <a:cs typeface="Times New Roman" pitchFamily="18" charset="0"/>
            </a:endParaRPr>
          </a:p>
          <a:p>
            <a:pPr marL="0" indent="0" algn="ctr">
              <a:buNone/>
            </a:pPr>
            <a:r>
              <a:rPr lang="ru-RU" sz="9600" b="1" dirty="0">
                <a:latin typeface="Times New Roman" pitchFamily="18" charset="0"/>
                <a:cs typeface="Times New Roman" pitchFamily="18" charset="0"/>
              </a:rPr>
              <a:t> «ЭЛЕКТР ТЕХНИКАСИ, ЭЛЕКТР МЕХАНИКАСИ ВА ЭЛЕКТР ТЕХНОЛОГИЯЛАРИ»  </a:t>
            </a:r>
            <a:r>
              <a:rPr lang="ru-RU" sz="9600" b="1" dirty="0" err="1">
                <a:latin typeface="Times New Roman" pitchFamily="18" charset="0"/>
                <a:cs typeface="Times New Roman" pitchFamily="18" charset="0"/>
              </a:rPr>
              <a:t>кафедраси</a:t>
            </a:r>
            <a:endParaRPr lang="ru-RU" sz="9600" dirty="0">
              <a:latin typeface="Times New Roman" pitchFamily="18" charset="0"/>
              <a:cs typeface="Times New Roman" pitchFamily="18" charset="0"/>
            </a:endParaRPr>
          </a:p>
          <a:p>
            <a:pPr marL="0" indent="0" algn="ctr">
              <a:buNone/>
            </a:pPr>
            <a:r>
              <a:rPr lang="ru-RU" b="1" dirty="0" smtClean="0">
                <a:latin typeface="Times New Roman" pitchFamily="18" charset="0"/>
                <a:cs typeface="Times New Roman" pitchFamily="18" charset="0"/>
              </a:rPr>
              <a:t> </a:t>
            </a:r>
            <a:endParaRPr lang="ru-RU" dirty="0">
              <a:ln w="0"/>
              <a:solidFill>
                <a:schemeClr val="accent1"/>
              </a:solidFill>
              <a:effectLst>
                <a:glow rad="63500">
                  <a:schemeClr val="accent1">
                    <a:satMod val="175000"/>
                    <a:alpha val="40000"/>
                  </a:schemeClr>
                </a:glow>
                <a:outerShdw blurRad="38100" dist="25400" dir="5400000" algn="ctr" rotWithShape="0">
                  <a:srgbClr val="6E747A">
                    <a:alpha val="43000"/>
                  </a:srgbClr>
                </a:outerShdw>
              </a:effectLst>
              <a:latin typeface="Times New Roman" pitchFamily="18" charset="0"/>
              <a:cs typeface="Times New Roman" pitchFamily="18" charset="0"/>
            </a:endParaRPr>
          </a:p>
          <a:p>
            <a:pPr marL="0" indent="0" algn="ctr">
              <a:buNone/>
              <a:defRPr/>
            </a:pPr>
            <a:r>
              <a:rPr lang="ru-RU" sz="9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«Электр</a:t>
            </a:r>
            <a:r>
              <a:rPr lang="uz-Cyrl-UZ" sz="9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о</a:t>
            </a:r>
            <a:r>
              <a:rPr lang="ru-RU" sz="9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техника </a:t>
            </a:r>
            <a:r>
              <a:rPr lang="ru-RU" sz="9600" b="1"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ва</a:t>
            </a:r>
            <a:r>
              <a:rPr lang="ru-RU" sz="9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 электроника</a:t>
            </a:r>
            <a:r>
              <a:rPr lang="uz-Cyrl-UZ" sz="9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 </a:t>
            </a:r>
            <a:r>
              <a:rPr lang="ru-RU" sz="9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a:t>
            </a:r>
            <a:r>
              <a:rPr lang="ru-RU" sz="9600" b="1" dirty="0">
                <a:solidFill>
                  <a:schemeClr val="accent5">
                    <a:lumMod val="50000"/>
                  </a:schemeClr>
                </a:solidFill>
                <a:latin typeface="Times New Roman" panose="02020603050405020304" pitchFamily="18" charset="0"/>
                <a:cs typeface="Times New Roman" panose="02020603050405020304" pitchFamily="18" charset="0"/>
              </a:rPr>
              <a:t> - </a:t>
            </a:r>
            <a:r>
              <a:rPr lang="ru-RU" sz="9600" b="1" spc="50" dirty="0">
                <a:ln w="9525" cmpd="sng">
                  <a:solidFill>
                    <a:schemeClr val="accent1"/>
                  </a:solidFill>
                  <a:prstDash val="solid"/>
                </a:ln>
                <a:effectLst>
                  <a:glow rad="38100">
                    <a:schemeClr val="accent1">
                      <a:alpha val="40000"/>
                    </a:schemeClr>
                  </a:glow>
                </a:effectLst>
                <a:latin typeface="Times New Roman" panose="02020603050405020304" pitchFamily="18" charset="0"/>
                <a:cs typeface="Times New Roman" panose="02020603050405020304" pitchFamily="18" charset="0"/>
              </a:rPr>
              <a:t>основы электротехники и электроники</a:t>
            </a:r>
            <a:r>
              <a:rPr lang="ru-RU" sz="9600" b="1" dirty="0">
                <a:latin typeface="Times New Roman" panose="02020603050405020304" pitchFamily="18" charset="0"/>
                <a:cs typeface="Times New Roman" panose="02020603050405020304" pitchFamily="18" charset="0"/>
              </a:rPr>
              <a:t> - </a:t>
            </a:r>
            <a:r>
              <a:rPr lang="ru-RU" sz="96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Foundations</a:t>
            </a:r>
            <a:r>
              <a:rPr lang="ru-RU" sz="96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 </a:t>
            </a:r>
            <a:r>
              <a:rPr lang="ru-RU" sz="96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of</a:t>
            </a:r>
            <a:r>
              <a:rPr lang="ru-RU" sz="96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 </a:t>
            </a:r>
            <a:r>
              <a:rPr lang="ru-RU" sz="96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Electrical</a:t>
            </a:r>
            <a:r>
              <a:rPr lang="ru-RU" sz="96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 </a:t>
            </a:r>
            <a:r>
              <a:rPr lang="ru-RU" sz="96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Engineering</a:t>
            </a:r>
            <a:r>
              <a:rPr lang="ru-RU" sz="96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 </a:t>
            </a:r>
            <a:r>
              <a:rPr lang="ru-RU" sz="96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and</a:t>
            </a:r>
            <a:r>
              <a:rPr lang="ru-RU" sz="96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 </a:t>
            </a:r>
            <a:r>
              <a:rPr lang="ru-RU" sz="96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Electronics</a:t>
            </a:r>
            <a:endParaRPr lang="ru-RU" sz="96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endParaRPr>
          </a:p>
          <a:p>
            <a:pPr marL="0" indent="0" algn="ctr">
              <a:buNone/>
            </a:pPr>
            <a:r>
              <a:rPr lang="ru-RU" sz="6667" b="1" dirty="0" smtClean="0">
                <a:latin typeface="Times New Roman" pitchFamily="18" charset="0"/>
                <a:cs typeface="Times New Roman" pitchFamily="18" charset="0"/>
              </a:rPr>
              <a:t>  </a:t>
            </a:r>
            <a:r>
              <a:rPr lang="ru-RU" sz="8533" b="1" dirty="0" err="1">
                <a:latin typeface="Times New Roman" pitchFamily="18" charset="0"/>
                <a:cs typeface="Times New Roman" pitchFamily="18" charset="0"/>
              </a:rPr>
              <a:t>фани</a:t>
            </a:r>
            <a:r>
              <a:rPr lang="ru-RU" sz="8533" b="1" dirty="0">
                <a:latin typeface="Times New Roman" pitchFamily="18" charset="0"/>
                <a:cs typeface="Times New Roman" pitchFamily="18" charset="0"/>
              </a:rPr>
              <a:t>  </a:t>
            </a:r>
            <a:r>
              <a:rPr lang="ru-RU" sz="8533" b="1" dirty="0" err="1">
                <a:latin typeface="Times New Roman" pitchFamily="18" charset="0"/>
                <a:cs typeface="Times New Roman" pitchFamily="18" charset="0"/>
              </a:rPr>
              <a:t>бўйича</a:t>
            </a:r>
            <a:endParaRPr lang="ru-RU" sz="8533" b="1" dirty="0">
              <a:latin typeface="Times New Roman" pitchFamily="18" charset="0"/>
              <a:cs typeface="Times New Roman" pitchFamily="18" charset="0"/>
            </a:endParaRPr>
          </a:p>
          <a:p>
            <a:pPr marL="0" indent="0" algn="ctr">
              <a:buNone/>
            </a:pPr>
            <a:endParaRPr lang="ru-RU" b="1" dirty="0" smtClean="0">
              <a:solidFill>
                <a:srgbClr val="006600"/>
              </a:solidFill>
              <a:latin typeface="Times New Roman" pitchFamily="18" charset="0"/>
              <a:cs typeface="Times New Roman" pitchFamily="18" charset="0"/>
            </a:endParaRPr>
          </a:p>
          <a:p>
            <a:pPr marL="0" indent="0" algn="ctr">
              <a:buNone/>
            </a:pPr>
            <a:r>
              <a:rPr lang="ru-RU" b="1" dirty="0" smtClean="0">
                <a:solidFill>
                  <a:srgbClr val="006600"/>
                </a:solidFill>
                <a:latin typeface="Times New Roman" pitchFamily="18" charset="0"/>
                <a:cs typeface="Times New Roman" pitchFamily="18" charset="0"/>
              </a:rPr>
              <a:t> </a:t>
            </a:r>
            <a:endParaRPr lang="ru-RU" dirty="0" smtClean="0">
              <a:solidFill>
                <a:srgbClr val="006600"/>
              </a:solidFill>
              <a:latin typeface="Times New Roman" pitchFamily="18" charset="0"/>
              <a:cs typeface="Times New Roman" pitchFamily="18" charset="0"/>
            </a:endParaRPr>
          </a:p>
          <a:p>
            <a:pPr marL="0" indent="0" algn="ctr">
              <a:buNone/>
            </a:pPr>
            <a:r>
              <a:rPr lang="en-US" sz="14933" b="1" dirty="0" smtClean="0">
                <a:solidFill>
                  <a:srgbClr val="006600"/>
                </a:solidFill>
                <a:latin typeface="Times New Roman" pitchFamily="18" charset="0"/>
                <a:cs typeface="Times New Roman" pitchFamily="18" charset="0"/>
              </a:rPr>
              <a:t>5- </a:t>
            </a:r>
            <a:r>
              <a:rPr lang="ru-RU" sz="14933" b="1" dirty="0">
                <a:solidFill>
                  <a:srgbClr val="006600"/>
                </a:solidFill>
                <a:latin typeface="Times New Roman" pitchFamily="18" charset="0"/>
                <a:cs typeface="Times New Roman" pitchFamily="18" charset="0"/>
              </a:rPr>
              <a:t>М А Ъ Р У З А  </a:t>
            </a:r>
            <a:r>
              <a:rPr lang="uz-Cyrl-UZ" sz="14933" b="1" dirty="0">
                <a:solidFill>
                  <a:srgbClr val="006600"/>
                </a:solidFill>
                <a:latin typeface="Times New Roman" pitchFamily="18" charset="0"/>
                <a:cs typeface="Times New Roman" pitchFamily="18" charset="0"/>
              </a:rPr>
              <a:t>МАШҒУЛОТИ</a:t>
            </a:r>
            <a:endParaRPr lang="ru-RU" sz="14933" b="1" dirty="0">
              <a:solidFill>
                <a:srgbClr val="006600"/>
              </a:solidFill>
              <a:latin typeface="Times New Roman" pitchFamily="18" charset="0"/>
              <a:cs typeface="Times New Roman" pitchFamily="18" charset="0"/>
            </a:endParaRPr>
          </a:p>
          <a:p>
            <a:pPr marL="0" indent="0" algn="ctr">
              <a:buNone/>
            </a:pPr>
            <a:r>
              <a:rPr lang="ru-RU" dirty="0" smtClean="0">
                <a:latin typeface="Times New Roman" pitchFamily="18" charset="0"/>
                <a:cs typeface="Times New Roman" pitchFamily="18" charset="0"/>
              </a:rPr>
              <a:t> </a:t>
            </a:r>
          </a:p>
          <a:p>
            <a:pPr marL="0" indent="0">
              <a:buNone/>
            </a:pPr>
            <a:r>
              <a:rPr lang="ru-RU" dirty="0"/>
              <a:t> </a:t>
            </a:r>
          </a:p>
          <a:p>
            <a:pPr marL="0" indent="0">
              <a:buNone/>
            </a:pPr>
            <a:endParaRPr lang="ru-RU" dirty="0"/>
          </a:p>
        </p:txBody>
      </p:sp>
    </p:spTree>
    <p:extLst>
      <p:ext uri="{BB962C8B-B14F-4D97-AF65-F5344CB8AC3E}">
        <p14:creationId xmlns:p14="http://schemas.microsoft.com/office/powerpoint/2010/main" val="90240692"/>
      </p:ext>
    </p:extLst>
  </p:cSld>
  <p:clrMapOvr>
    <a:masterClrMapping/>
  </p:clrMapOvr>
  <mc:AlternateContent xmlns:mc="http://schemas.openxmlformats.org/markup-compatibility/2006" xmlns:p14="http://schemas.microsoft.com/office/powerpoint/2010/main">
    <mc:Choice Requires="p14">
      <p:transition spd="slow" p14:dur="3000" advTm="30417">
        <p:split orient="vert"/>
      </p:transition>
    </mc:Choice>
    <mc:Fallback xmlns="">
      <p:transition spd="slow" advTm="30417">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1000"/>
                                        <p:tgtEl>
                                          <p:spTgt spid="3">
                                            <p:txEl>
                                              <p:pRg st="9" end="9"/>
                                            </p:txEl>
                                          </p:spTgt>
                                        </p:tgtEl>
                                      </p:cBhvr>
                                    </p:animEffect>
                                    <p:anim calcmode="lin" valueType="num">
                                      <p:cBhvr>
                                        <p:cTn id="4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1000"/>
                                        <p:tgtEl>
                                          <p:spTgt spid="3">
                                            <p:txEl>
                                              <p:pRg st="11" end="11"/>
                                            </p:txEl>
                                          </p:spTgt>
                                        </p:tgtEl>
                                      </p:cBhvr>
                                    </p:animEffect>
                                    <p:anim calcmode="lin" valueType="num">
                                      <p:cBhvr>
                                        <p:cTn id="5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5" presetID="22" presetClass="entr" presetSubtype="4" fill="hold" grpId="0"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wipe(down)">
                                      <p:cBhvr>
                                        <p:cTn id="57" dur="5000"/>
                                        <p:tgtEl>
                                          <p:spTgt spid="3">
                                            <p:txEl>
                                              <p:pRg st="12" end="12"/>
                                            </p:txEl>
                                          </p:spTgt>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3">
                                            <p:txEl>
                                              <p:pRg st="13" end="13"/>
                                            </p:txEl>
                                          </p:spTgt>
                                        </p:tgtEl>
                                        <p:attrNameLst>
                                          <p:attrName>style.visibility</p:attrName>
                                        </p:attrNameLst>
                                      </p:cBhvr>
                                      <p:to>
                                        <p:strVal val="visible"/>
                                      </p:to>
                                    </p:set>
                                    <p:animEffect transition="in" filter="wipe(down)">
                                      <p:cBhvr>
                                        <p:cTn id="60" dur="5000"/>
                                        <p:tgtEl>
                                          <p:spTgt spid="3">
                                            <p:txEl>
                                              <p:pRg st="13" end="13"/>
                                            </p:txEl>
                                          </p:spTgt>
                                        </p:tgtEl>
                                      </p:cBhvr>
                                    </p:animEffect>
                                  </p:childTnLst>
                                </p:cTn>
                              </p:par>
                              <p:par>
                                <p:cTn id="61" presetID="42" presetClass="entr" presetSubtype="0" fill="hold" grpId="0" nodeType="with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animEffect transition="in" filter="fade">
                                      <p:cBhvr>
                                        <p:cTn id="63" dur="1000"/>
                                        <p:tgtEl>
                                          <p:spTgt spid="3">
                                            <p:txEl>
                                              <p:pRg st="14" end="14"/>
                                            </p:txEl>
                                          </p:spTgt>
                                        </p:tgtEl>
                                      </p:cBhvr>
                                    </p:animEffect>
                                    <p:anim calcmode="lin" valueType="num">
                                      <p:cBhvr>
                                        <p:cTn id="64"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891187"/>
          </a:xfrm>
          <a:solidFill>
            <a:schemeClr val="bg1"/>
          </a:solidFill>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a:noAutofit/>
          </a:bodyPr>
          <a:lstStyle/>
          <a:p>
            <a:r>
              <a:rPr lang="uz-Cyrl-UZ" sz="4000" b="1"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Мавзу</a:t>
            </a:r>
            <a:r>
              <a:rPr lang="uz-Cyrl-UZ" sz="4000" b="1"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r>
              <a:rPr lang="en-US" sz="4000" b="1"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uz-Cyrl-UZ" sz="4000" b="1"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Ўзгарувчан токни т</a:t>
            </a:r>
            <a:r>
              <a:rPr lang="uz-Cyrl-UZ" sz="4000" b="1" dirty="0" smtClean="0">
                <a:latin typeface="Times New Roman" panose="02020603050405020304" pitchFamily="18" charset="0"/>
                <a:cs typeface="Times New Roman" panose="02020603050405020304" pitchFamily="18" charset="0"/>
              </a:rPr>
              <a:t>ўғрилаш</a:t>
            </a:r>
            <a:endParaRPr lang="ru-RU" sz="4000" b="1"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838200" y="4117563"/>
            <a:ext cx="10515600" cy="1356962"/>
          </a:xfrm>
          <a:solidFill>
            <a:schemeClr val="bg1"/>
          </a:solidFill>
          <a:effectLst>
            <a:glow rad="2286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a:normAutofit/>
          </a:bodyPr>
          <a:lstStyle/>
          <a:p>
            <a:pPr marL="0" indent="0" algn="ctr">
              <a:buNone/>
            </a:pPr>
            <a:r>
              <a:rPr lang="ru-RU" sz="4800" b="1" dirty="0" err="1"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Тузувчи</a:t>
            </a:r>
            <a:r>
              <a:rPr lang="ru-RU"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 </a:t>
            </a:r>
            <a:r>
              <a:rPr lang="ru-RU" sz="4800" b="1" dirty="0" err="1"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Рахматшеов</a:t>
            </a:r>
            <a:r>
              <a:rPr lang="ru-RU"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 </a:t>
            </a:r>
            <a:r>
              <a:rPr lang="ru-RU"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И</a:t>
            </a:r>
            <a:r>
              <a:rPr lang="ru-RU" sz="4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.Н.</a:t>
            </a:r>
            <a:endParaRPr lang="ru-RU"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0282080"/>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72289" y="665917"/>
            <a:ext cx="10515600" cy="1042570"/>
          </a:xfrm>
          <a:ln>
            <a:solidFill>
              <a:schemeClr val="accent6"/>
            </a:solidFill>
          </a:ln>
          <a:effectLst>
            <a:glow rad="228600">
              <a:schemeClr val="accent6">
                <a:satMod val="175000"/>
                <a:alpha val="40000"/>
              </a:schemeClr>
            </a:glow>
          </a:effectLst>
        </p:spPr>
        <p:txBody>
          <a:bodyPr>
            <a:normAutofit/>
          </a:bodyPr>
          <a:lstStyle/>
          <a:p>
            <a:pPr algn="ctr"/>
            <a:r>
              <a:rPr lang="en-US" sz="4800" b="1" dirty="0" err="1" smtClean="0">
                <a:effectLst>
                  <a:outerShdw blurRad="38100" dist="38100" dir="2700000" algn="tl">
                    <a:srgbClr val="000000">
                      <a:alpha val="43137"/>
                    </a:srgbClr>
                  </a:outerShdw>
                </a:effectLst>
              </a:rPr>
              <a:t>Reja</a:t>
            </a:r>
            <a:r>
              <a:rPr lang="en-US" sz="4800" b="1" dirty="0" smtClean="0">
                <a:effectLst>
                  <a:outerShdw blurRad="38100" dist="38100" dir="2700000" algn="tl">
                    <a:srgbClr val="000000">
                      <a:alpha val="43137"/>
                    </a:srgbClr>
                  </a:outerShdw>
                </a:effectLst>
              </a:rPr>
              <a:t>:</a:t>
            </a:r>
            <a:endParaRPr lang="ru-RU" sz="4800" b="1" dirty="0">
              <a:effectLst>
                <a:outerShdw blurRad="38100" dist="38100" dir="2700000" algn="tl">
                  <a:srgbClr val="000000">
                    <a:alpha val="43137"/>
                  </a:srgbClr>
                </a:outerShdw>
              </a:effectLst>
            </a:endParaRPr>
          </a:p>
        </p:txBody>
      </p:sp>
      <p:sp>
        <p:nvSpPr>
          <p:cNvPr id="3" name="Объект 2"/>
          <p:cNvSpPr>
            <a:spLocks noGrp="1"/>
          </p:cNvSpPr>
          <p:nvPr>
            <p:ph idx="1"/>
          </p:nvPr>
        </p:nvSpPr>
        <p:spPr>
          <a:xfrm>
            <a:off x="192505" y="1802675"/>
            <a:ext cx="11851105" cy="2246812"/>
          </a:xfrm>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a:normAutofit/>
          </a:bodyPr>
          <a:lstStyle/>
          <a:p>
            <a:r>
              <a:rPr lang="uz-Latn-UZ" b="1" dirty="0" smtClean="0"/>
              <a:t>1</a:t>
            </a:r>
            <a:r>
              <a:rPr lang="uz-Latn-UZ" b="1" dirty="0"/>
              <a:t>. Bir yarim davrli to’g’rilagichlar.</a:t>
            </a:r>
            <a:endParaRPr lang="ru-RU" dirty="0"/>
          </a:p>
          <a:p>
            <a:r>
              <a:rPr lang="uz-Latn-UZ" b="1" dirty="0" smtClean="0"/>
              <a:t>2</a:t>
            </a:r>
            <a:r>
              <a:rPr lang="uz-Latn-UZ" b="1" dirty="0"/>
              <a:t>. Ikki yarim davrli to’g’rilagichlar.</a:t>
            </a:r>
            <a:endParaRPr lang="ru-RU" dirty="0"/>
          </a:p>
          <a:p>
            <a:r>
              <a:rPr lang="uz-Latn-UZ" b="1" dirty="0" smtClean="0"/>
              <a:t>3</a:t>
            </a:r>
            <a:r>
              <a:rPr lang="uz-Latn-UZ" b="1" dirty="0"/>
              <a:t>. Tiristorli to’g’rilagich</a:t>
            </a:r>
            <a:endParaRPr lang="ru-RU" dirty="0"/>
          </a:p>
          <a:p>
            <a:r>
              <a:rPr lang="uz-Latn-UZ" b="1" dirty="0" smtClean="0"/>
              <a:t>4</a:t>
            </a:r>
            <a:r>
              <a:rPr lang="uz-Latn-UZ" b="1" dirty="0"/>
              <a:t>. Tekislovchi filtrlar va ularning turlari</a:t>
            </a:r>
            <a:r>
              <a:rPr lang="uz-Latn-UZ" b="1" dirty="0" smtClean="0"/>
              <a:t>.</a:t>
            </a:r>
            <a:endParaRPr lang="ru-RU" dirty="0"/>
          </a:p>
        </p:txBody>
      </p:sp>
    </p:spTree>
    <p:extLst>
      <p:ext uri="{BB962C8B-B14F-4D97-AF65-F5344CB8AC3E}">
        <p14:creationId xmlns:p14="http://schemas.microsoft.com/office/powerpoint/2010/main" val="42032994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444843" y="-97499"/>
            <a:ext cx="11240423" cy="4031873"/>
          </a:xfrm>
          <a:prstGeom prst="rect">
            <a:avLst/>
          </a:prstGeom>
          <a:ln/>
          <a:extLst/>
        </p:spPr>
        <p:style>
          <a:lnRef idx="2">
            <a:schemeClr val="dk1"/>
          </a:lnRef>
          <a:fillRef idx="1">
            <a:schemeClr val="lt1"/>
          </a:fillRef>
          <a:effectRef idx="0">
            <a:schemeClr val="dk1"/>
          </a:effectRef>
          <a:fontRef idx="minor">
            <a:schemeClr val="dk1"/>
          </a:fontRef>
        </p:style>
        <p:txBody>
          <a:bodyPr wrap="square"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just"/>
            <a:r>
              <a:rPr lang="en-US" altLang="ru-RU" sz="3200" b="1" dirty="0" err="1">
                <a:solidFill>
                  <a:srgbClr val="FF0000"/>
                </a:solidFill>
                <a:ea typeface="Calibri" panose="020F0502020204030204" pitchFamily="34" charset="0"/>
                <a:cs typeface="Times New Roman" panose="02020603050405020304" pitchFamily="18" charset="0"/>
              </a:rPr>
              <a:t>To`g`rilagich</a:t>
            </a:r>
            <a:r>
              <a:rPr lang="en-US" altLang="ru-RU" sz="3200" b="1" dirty="0">
                <a:solidFill>
                  <a:srgbClr val="FF0000"/>
                </a:solidFill>
                <a:ea typeface="Calibri" panose="020F0502020204030204" pitchFamily="34" charset="0"/>
                <a:cs typeface="Times New Roman" panose="02020603050405020304" pitchFamily="18" charset="0"/>
              </a:rPr>
              <a:t> </a:t>
            </a:r>
            <a:r>
              <a:rPr lang="en-US" altLang="ru-RU" sz="3200" b="1" dirty="0" err="1">
                <a:solidFill>
                  <a:srgbClr val="FF0000"/>
                </a:solidFill>
                <a:ea typeface="Calibri" panose="020F0502020204030204" pitchFamily="34" charset="0"/>
                <a:cs typeface="Times New Roman" panose="02020603050405020304" pitchFamily="18" charset="0"/>
              </a:rPr>
              <a:t>diod</a:t>
            </a:r>
            <a:r>
              <a:rPr lang="en-US" altLang="ru-RU" sz="3200" dirty="0">
                <a:solidFill>
                  <a:srgbClr val="FF0000"/>
                </a:solidFill>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bu</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o`zgaruvchan</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to`kni</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o`zgarmas</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to`kka</a:t>
            </a:r>
            <a:r>
              <a:rPr lang="en-US" altLang="ru-RU" sz="3200" dirty="0">
                <a:ea typeface="Calibri" panose="020F0502020204030204" pitchFamily="34" charset="0"/>
                <a:cs typeface="Times New Roman" panose="02020603050405020304" pitchFamily="18" charset="0"/>
              </a:rPr>
              <a:t>  </a:t>
            </a:r>
            <a:r>
              <a:rPr lang="en-US" altLang="ru-RU" sz="3200" dirty="0" err="1" smtClean="0">
                <a:ea typeface="Calibri" panose="020F0502020204030204" pitchFamily="34" charset="0"/>
                <a:cs typeface="Times New Roman" panose="02020603050405020304" pitchFamily="18" charset="0"/>
              </a:rPr>
              <a:t>o`zgartiruvchi</a:t>
            </a:r>
            <a:r>
              <a:rPr lang="en-US" altLang="ru-RU" sz="3200" dirty="0" smtClean="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yarimo`tkazgich</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asbobdir</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Ta`minlash</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manbalarida</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o`zgaruvchan</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to`kni</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o`zgarmasga</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to`g`rilashdan</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tashqari</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ular</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signallarning</a:t>
            </a:r>
            <a:r>
              <a:rPr lang="en-US" altLang="ru-RU" sz="3200" dirty="0">
                <a:ea typeface="Calibri" panose="020F0502020204030204" pitchFamily="34" charset="0"/>
                <a:cs typeface="Times New Roman" panose="02020603050405020304" pitchFamily="18" charset="0"/>
              </a:rPr>
              <a:t> </a:t>
            </a:r>
            <a:r>
              <a:rPr lang="en-US" altLang="ru-RU" sz="3200" dirty="0" err="1" smtClean="0">
                <a:ea typeface="Calibri" panose="020F0502020204030204" pitchFamily="34" charset="0"/>
                <a:cs typeface="Times New Roman" panose="02020603050405020304" pitchFamily="18" charset="0"/>
              </a:rPr>
              <a:t>takrorli</a:t>
            </a:r>
            <a:r>
              <a:rPr lang="en-US" altLang="ru-RU" sz="3200" dirty="0" smtClean="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va</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vaqt</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parametrlariga</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talablar</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yuqori</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bo`lmagan</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boshqarish</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va</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kommutasiya</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zanjirlarida</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cheklovchi</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va</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yechuvchi</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zanjirlarda</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kuchlanishni</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ko`paytirish</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sxemalari</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va</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o`zgarmas</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kuchlanish</a:t>
            </a:r>
            <a:r>
              <a:rPr lang="en-US" altLang="ru-RU" sz="3200" dirty="0">
                <a:ea typeface="Calibri" panose="020F0502020204030204" pitchFamily="34" charset="0"/>
                <a:cs typeface="Times New Roman" panose="02020603050405020304" pitchFamily="18" charset="0"/>
              </a:rPr>
              <a:t> </a:t>
            </a:r>
            <a:r>
              <a:rPr lang="en-US" altLang="ru-RU" sz="3200" dirty="0" err="1">
                <a:ea typeface="Calibri" panose="020F0502020204030204" pitchFamily="34" charset="0"/>
                <a:cs typeface="Times New Roman" panose="02020603050405020304" pitchFamily="18" charset="0"/>
              </a:rPr>
              <a:t>o`zgartirgichlarida</a:t>
            </a:r>
            <a:r>
              <a:rPr lang="en-US" altLang="ru-RU" sz="3200" dirty="0">
                <a:ea typeface="Calibri" panose="020F0502020204030204" pitchFamily="34" charset="0"/>
                <a:cs typeface="Times New Roman" panose="02020603050405020304" pitchFamily="18" charset="0"/>
              </a:rPr>
              <a:t> ham </a:t>
            </a:r>
            <a:r>
              <a:rPr lang="en-US" altLang="ru-RU" sz="3200" dirty="0" err="1">
                <a:ea typeface="Calibri" panose="020F0502020204030204" pitchFamily="34" charset="0"/>
                <a:cs typeface="Times New Roman" panose="02020603050405020304" pitchFamily="18" charset="0"/>
              </a:rPr>
              <a:t>qo`llailadi</a:t>
            </a:r>
            <a:r>
              <a:rPr lang="en-US" altLang="ru-RU" sz="3200" dirty="0">
                <a:ea typeface="Calibri" panose="020F0502020204030204" pitchFamily="34" charset="0"/>
                <a:cs typeface="Times New Roman" panose="02020603050405020304" pitchFamily="18" charset="0"/>
              </a:rPr>
              <a:t>.</a:t>
            </a:r>
          </a:p>
        </p:txBody>
      </p:sp>
      <p:pic>
        <p:nvPicPr>
          <p:cNvPr id="33795" name="Рисунок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844" y="3934374"/>
            <a:ext cx="5629386" cy="2781524"/>
          </a:xfrm>
          <a:prstGeom prst="rect">
            <a:avLst/>
          </a:prstGeom>
          <a:ln/>
          <a:extLst/>
        </p:spPr>
        <p:style>
          <a:lnRef idx="2">
            <a:schemeClr val="dk1"/>
          </a:lnRef>
          <a:fillRef idx="1">
            <a:schemeClr val="lt1"/>
          </a:fillRef>
          <a:effectRef idx="0">
            <a:schemeClr val="dk1"/>
          </a:effectRef>
          <a:fontRef idx="minor">
            <a:schemeClr val="dk1"/>
          </a:fontRef>
        </p:style>
      </p:pic>
      <p:grpSp>
        <p:nvGrpSpPr>
          <p:cNvPr id="4" name="Group 6"/>
          <p:cNvGrpSpPr>
            <a:grpSpLocks/>
          </p:cNvGrpSpPr>
          <p:nvPr/>
        </p:nvGrpSpPr>
        <p:grpSpPr bwMode="auto">
          <a:xfrm>
            <a:off x="6361611" y="4140926"/>
            <a:ext cx="5323655" cy="2574972"/>
            <a:chOff x="2601" y="4454"/>
            <a:chExt cx="1620" cy="1180"/>
          </a:xfrm>
        </p:grpSpPr>
        <p:grpSp>
          <p:nvGrpSpPr>
            <p:cNvPr id="5" name="Group 7"/>
            <p:cNvGrpSpPr>
              <a:grpSpLocks/>
            </p:cNvGrpSpPr>
            <p:nvPr/>
          </p:nvGrpSpPr>
          <p:grpSpPr bwMode="auto">
            <a:xfrm>
              <a:off x="2601" y="4454"/>
              <a:ext cx="1620" cy="540"/>
              <a:chOff x="2601" y="4454"/>
              <a:chExt cx="1620" cy="540"/>
            </a:xfrm>
          </p:grpSpPr>
          <p:sp>
            <p:nvSpPr>
              <p:cNvPr id="7" name="AutoShape 8"/>
              <p:cNvSpPr>
                <a:spLocks noChangeArrowheads="1"/>
              </p:cNvSpPr>
              <p:nvPr/>
            </p:nvSpPr>
            <p:spPr bwMode="auto">
              <a:xfrm rot="5400000">
                <a:off x="3141" y="4554"/>
                <a:ext cx="360" cy="360"/>
              </a:xfrm>
              <a:prstGeom prst="flowChartExtract">
                <a:avLst/>
              </a:prstGeom>
              <a:ln>
                <a:headEnd/>
                <a:tailEnd/>
              </a:ln>
            </p:spPr>
            <p:style>
              <a:lnRef idx="2">
                <a:schemeClr val="dk1"/>
              </a:lnRef>
              <a:fillRef idx="1">
                <a:schemeClr val="lt1"/>
              </a:fillRef>
              <a:effectRef idx="0">
                <a:schemeClr val="dk1"/>
              </a:effectRef>
              <a:fontRef idx="minor">
                <a:schemeClr val="dk1"/>
              </a:fontRef>
            </p:style>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uz-Cyrl-UZ" altLang="ru-RU"/>
              </a:p>
            </p:txBody>
          </p:sp>
          <p:sp>
            <p:nvSpPr>
              <p:cNvPr id="8" name="Line 9"/>
              <p:cNvSpPr>
                <a:spLocks noChangeShapeType="1"/>
              </p:cNvSpPr>
              <p:nvPr/>
            </p:nvSpPr>
            <p:spPr bwMode="auto">
              <a:xfrm>
                <a:off x="2601" y="4734"/>
                <a:ext cx="1620" cy="0"/>
              </a:xfrm>
              <a:prstGeom prst="line">
                <a:avLst/>
              </a:prstGeom>
              <a:ln>
                <a:headEnd type="oval" w="med" len="med"/>
                <a:tailEnd type="oval" w="med" len="med"/>
              </a:ln>
              <a:extLst/>
            </p:spPr>
            <p:style>
              <a:lnRef idx="2">
                <a:schemeClr val="dk1"/>
              </a:lnRef>
              <a:fillRef idx="1">
                <a:schemeClr val="lt1"/>
              </a:fillRef>
              <a:effectRef idx="0">
                <a:schemeClr val="dk1"/>
              </a:effectRef>
              <a:fontRef idx="minor">
                <a:schemeClr val="dk1"/>
              </a:fontRef>
            </p:style>
            <p:txBody>
              <a:bodyPr/>
              <a:lstStyle/>
              <a:p>
                <a:endParaRPr lang="ru-RU"/>
              </a:p>
            </p:txBody>
          </p:sp>
          <p:sp>
            <p:nvSpPr>
              <p:cNvPr id="9" name="Line 10"/>
              <p:cNvSpPr>
                <a:spLocks noChangeShapeType="1"/>
              </p:cNvSpPr>
              <p:nvPr/>
            </p:nvSpPr>
            <p:spPr bwMode="auto">
              <a:xfrm>
                <a:off x="3481" y="4454"/>
                <a:ext cx="0" cy="540"/>
              </a:xfrm>
              <a:prstGeom prst="line">
                <a:avLst/>
              </a:prstGeom>
              <a:ln>
                <a:headEnd/>
                <a:tailEnd/>
              </a:ln>
              <a:extLst/>
            </p:spPr>
            <p:style>
              <a:lnRef idx="2">
                <a:schemeClr val="dk1"/>
              </a:lnRef>
              <a:fillRef idx="1">
                <a:schemeClr val="lt1"/>
              </a:fillRef>
              <a:effectRef idx="0">
                <a:schemeClr val="dk1"/>
              </a:effectRef>
              <a:fontRef idx="minor">
                <a:schemeClr val="dk1"/>
              </a:fontRef>
            </p:style>
            <p:txBody>
              <a:bodyPr/>
              <a:lstStyle/>
              <a:p>
                <a:endParaRPr lang="ru-RU"/>
              </a:p>
            </p:txBody>
          </p:sp>
        </p:grpSp>
        <p:sp>
          <p:nvSpPr>
            <p:cNvPr id="6" name="Text Box 11"/>
            <p:cNvSpPr txBox="1">
              <a:spLocks noChangeArrowheads="1"/>
            </p:cNvSpPr>
            <p:nvPr/>
          </p:nvSpPr>
          <p:spPr bwMode="auto">
            <a:xfrm>
              <a:off x="2781" y="5094"/>
              <a:ext cx="1440" cy="540"/>
            </a:xfrm>
            <a:prstGeom prst="rect">
              <a:avLst/>
            </a:prstGeom>
            <a:ln/>
            <a:extLst/>
          </p:spPr>
          <p:style>
            <a:lnRef idx="2">
              <a:schemeClr val="dk1"/>
            </a:lnRef>
            <a:fillRef idx="1">
              <a:schemeClr val="lt1"/>
            </a:fillRef>
            <a:effectRef idx="0">
              <a:schemeClr val="dk1"/>
            </a:effectRef>
            <a:fontRef idx="minor">
              <a:schemeClr val="dk1"/>
            </a:fontRef>
          </p:style>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ru-RU" altLang="ru-RU" sz="1400">
                  <a:latin typeface="Times New Roman" panose="02020603050405020304" pitchFamily="18" charset="0"/>
                </a:rPr>
                <a:t>диод</a:t>
              </a:r>
              <a:endParaRPr lang="ru-RU" altLang="ru-RU">
                <a:latin typeface="Arial" panose="020B0604020202020204" pitchFamily="34" charset="0"/>
              </a:endParaRPr>
            </a:p>
          </p:txBody>
        </p:sp>
      </p:grpSp>
    </p:spTree>
    <p:extLst>
      <p:ext uri="{BB962C8B-B14F-4D97-AF65-F5344CB8AC3E}">
        <p14:creationId xmlns:p14="http://schemas.microsoft.com/office/powerpoint/2010/main" val="3349507420"/>
      </p:ext>
    </p:extLst>
  </p:cSld>
  <p:clrMapOvr>
    <a:masterClrMapping/>
  </p:clrMapOvr>
  <p:transition spd="slow" advTm="10000">
    <p:strips dir="ru"/>
    <p:sndAc>
      <p:end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653143" y="718456"/>
            <a:ext cx="11118669" cy="5643155"/>
          </a:xfrm>
        </p:spPr>
        <p:txBody>
          <a:bodyPr>
            <a:normAutofit/>
          </a:bodyPr>
          <a:lstStyle/>
          <a:p>
            <a:r>
              <a:rPr lang="uz-Cyrl-UZ" dirty="0">
                <a:latin typeface="Times New Roman" panose="02020603050405020304" pitchFamily="18" charset="0"/>
                <a:cs typeface="Times New Roman" panose="02020603050405020304" pitchFamily="18" charset="0"/>
              </a:rPr>
              <a:t>Республикамизда электр энергияси 50 Гц частотали </a:t>
            </a:r>
            <a:r>
              <a:rPr lang="uz-Cyrl-UZ" dirty="0" smtClean="0">
                <a:latin typeface="Times New Roman" panose="02020603050405020304" pitchFamily="18" charset="0"/>
                <a:cs typeface="Times New Roman" panose="02020603050405020304" pitchFamily="18" charset="0"/>
              </a:rPr>
              <a:t>ўзгарувчан </a:t>
            </a:r>
            <a:r>
              <a:rPr lang="uz-Cyrl-UZ" dirty="0">
                <a:latin typeface="Times New Roman" panose="02020603050405020304" pitchFamily="18" charset="0"/>
                <a:cs typeface="Times New Roman" panose="02020603050405020304" pitchFamily="18" charset="0"/>
              </a:rPr>
              <a:t>токда таркатилади, бу билан бирга телекоммуникация аппаратураларининг кўп қ</a:t>
            </a:r>
            <a:r>
              <a:rPr lang="uz-Cyrl-UZ" dirty="0" smtClean="0">
                <a:latin typeface="Times New Roman" panose="02020603050405020304" pitchFamily="18" charset="0"/>
                <a:cs typeface="Times New Roman" panose="02020603050405020304" pitchFamily="18" charset="0"/>
              </a:rPr>
              <a:t>исми </a:t>
            </a:r>
            <a:r>
              <a:rPr lang="uz-Cyrl-UZ" dirty="0">
                <a:latin typeface="Times New Roman" panose="02020603050405020304" pitchFamily="18" charset="0"/>
                <a:cs typeface="Times New Roman" panose="02020603050405020304" pitchFamily="18" charset="0"/>
              </a:rPr>
              <a:t>турли номиналлардаги ўзгармас ток билан таъминланиши сабабли </a:t>
            </a:r>
            <a:r>
              <a:rPr lang="uz-Cyrl-UZ" dirty="0" smtClean="0">
                <a:latin typeface="Times New Roman" panose="02020603050405020304" pitchFamily="18" charset="0"/>
                <a:cs typeface="Times New Roman" panose="02020603050405020304" pitchFamily="18" charset="0"/>
              </a:rPr>
              <a:t>ўзгарувчан </a:t>
            </a:r>
            <a:r>
              <a:rPr lang="uz-Cyrl-UZ" dirty="0">
                <a:latin typeface="Times New Roman" panose="02020603050405020304" pitchFamily="18" charset="0"/>
                <a:cs typeface="Times New Roman" panose="02020603050405020304" pitchFamily="18" charset="0"/>
              </a:rPr>
              <a:t>токни </a:t>
            </a:r>
            <a:r>
              <a:rPr lang="uz-Cyrl-UZ" dirty="0" smtClean="0">
                <a:latin typeface="Times New Roman" panose="02020603050405020304" pitchFamily="18" charset="0"/>
                <a:cs typeface="Times New Roman" panose="02020603050405020304" pitchFamily="18" charset="0"/>
              </a:rPr>
              <a:t>ўзгармас </a:t>
            </a:r>
            <a:r>
              <a:rPr lang="uz-Cyrl-UZ" dirty="0">
                <a:latin typeface="Times New Roman" panose="02020603050405020304" pitchFamily="18" charset="0"/>
                <a:cs typeface="Times New Roman" panose="02020603050405020304" pitchFamily="18" charset="0"/>
              </a:rPr>
              <a:t>токка узгартириш зарурати тугилади</a:t>
            </a:r>
            <a:r>
              <a:rPr lang="uz-Cyrl-UZ" dirty="0" smtClean="0">
                <a:latin typeface="Times New Roman" panose="02020603050405020304" pitchFamily="18" charset="0"/>
                <a:cs typeface="Times New Roman" panose="02020603050405020304" pitchFamily="18" charset="0"/>
              </a:rPr>
              <a:t>.</a:t>
            </a:r>
          </a:p>
          <a:p>
            <a:pPr marL="0" indent="0">
              <a:buNone/>
            </a:pPr>
            <a:r>
              <a:rPr lang="uz-Cyrl-UZ" dirty="0">
                <a:latin typeface="Times New Roman" panose="02020603050405020304" pitchFamily="18" charset="0"/>
                <a:cs typeface="Times New Roman" panose="02020603050405020304" pitchFamily="18" charset="0"/>
              </a:rPr>
              <a:t> </a:t>
            </a:r>
            <a:r>
              <a:rPr lang="uz-Cyrl-UZ" dirty="0" smtClean="0">
                <a:latin typeface="Times New Roman" panose="02020603050405020304" pitchFamily="18" charset="0"/>
                <a:cs typeface="Times New Roman" panose="02020603050405020304" pitchFamily="18" charset="0"/>
              </a:rPr>
              <a:t>   </a:t>
            </a:r>
            <a:r>
              <a:rPr lang="uz-Cyrl-UZ" dirty="0">
                <a:latin typeface="Times New Roman" panose="02020603050405020304" pitchFamily="18" charset="0"/>
                <a:cs typeface="Times New Roman" panose="02020603050405020304" pitchFamily="18" charset="0"/>
              </a:rPr>
              <a:t>Бунинг учун </a:t>
            </a:r>
            <a:r>
              <a:rPr lang="uz-Cyrl-UZ" dirty="0" smtClean="0">
                <a:latin typeface="Times New Roman" panose="02020603050405020304" pitchFamily="18" charset="0"/>
                <a:cs typeface="Times New Roman" panose="02020603050405020304" pitchFamily="18" charset="0"/>
              </a:rPr>
              <a:t>тўғрилагичлар </a:t>
            </a:r>
            <a:r>
              <a:rPr lang="uz-Cyrl-UZ" dirty="0">
                <a:latin typeface="Times New Roman" panose="02020603050405020304" pitchFamily="18" charset="0"/>
                <a:cs typeface="Times New Roman" panose="02020603050405020304" pitchFamily="18" charset="0"/>
              </a:rPr>
              <a:t>ишлатилади. </a:t>
            </a:r>
            <a:r>
              <a:rPr lang="uz-Cyrl-UZ" dirty="0" smtClean="0">
                <a:latin typeface="Times New Roman" panose="02020603050405020304" pitchFamily="18" charset="0"/>
                <a:cs typeface="Times New Roman" panose="02020603050405020304" pitchFamily="18" charset="0"/>
              </a:rPr>
              <a:t>Тўғрилагич </a:t>
            </a:r>
            <a:r>
              <a:rPr lang="uz-Cyrl-UZ" dirty="0">
                <a:latin typeface="Times New Roman" panose="02020603050405020304" pitchFamily="18" charset="0"/>
                <a:cs typeface="Times New Roman" panose="02020603050405020304" pitchFamily="18" charset="0"/>
              </a:rPr>
              <a:t>деб </a:t>
            </a:r>
            <a:r>
              <a:rPr lang="uz-Cyrl-UZ" dirty="0" smtClean="0">
                <a:latin typeface="Times New Roman" panose="02020603050405020304" pitchFamily="18" charset="0"/>
                <a:cs typeface="Times New Roman" panose="02020603050405020304" pitchFamily="18" charset="0"/>
              </a:rPr>
              <a:t>ўзгарувчан </a:t>
            </a:r>
            <a:r>
              <a:rPr lang="uz-Cyrl-UZ" dirty="0">
                <a:latin typeface="Times New Roman" panose="02020603050405020304" pitchFamily="18" charset="0"/>
                <a:cs typeface="Times New Roman" panose="02020603050405020304" pitchFamily="18" charset="0"/>
              </a:rPr>
              <a:t>токни </a:t>
            </a:r>
            <a:r>
              <a:rPr lang="uz-Cyrl-UZ" dirty="0" smtClean="0">
                <a:latin typeface="Times New Roman" panose="02020603050405020304" pitchFamily="18" charset="0"/>
                <a:cs typeface="Times New Roman" panose="02020603050405020304" pitchFamily="18" charset="0"/>
              </a:rPr>
              <a:t>    ўзгармас </a:t>
            </a:r>
            <a:r>
              <a:rPr lang="uz-Cyrl-UZ" dirty="0">
                <a:latin typeface="Times New Roman" panose="02020603050405020304" pitchFamily="18" charset="0"/>
                <a:cs typeface="Times New Roman" panose="02020603050405020304" pitchFamily="18" charset="0"/>
              </a:rPr>
              <a:t>токга айлантирувчи </a:t>
            </a:r>
            <a:r>
              <a:rPr lang="uz-Cyrl-UZ" dirty="0" smtClean="0">
                <a:latin typeface="Times New Roman" panose="02020603050405020304" pitchFamily="18" charset="0"/>
                <a:cs typeface="Times New Roman" panose="02020603050405020304" pitchFamily="18" charset="0"/>
              </a:rPr>
              <a:t>қурилмага </a:t>
            </a:r>
            <a:r>
              <a:rPr lang="uz-Cyrl-UZ" dirty="0">
                <a:latin typeface="Times New Roman" panose="02020603050405020304" pitchFamily="18" charset="0"/>
                <a:cs typeface="Times New Roman" panose="02020603050405020304" pitchFamily="18" charset="0"/>
              </a:rPr>
              <a:t>айтилади</a:t>
            </a:r>
            <a:r>
              <a:rPr lang="uz-Cyrl-UZ" dirty="0" smtClean="0">
                <a:latin typeface="Times New Roman" panose="02020603050405020304" pitchFamily="18" charset="0"/>
                <a:cs typeface="Times New Roman" panose="02020603050405020304" pitchFamily="18" charset="0"/>
              </a:rPr>
              <a:t>.</a:t>
            </a:r>
          </a:p>
          <a:p>
            <a:r>
              <a:rPr lang="ru-RU" dirty="0" err="1">
                <a:latin typeface="Times New Roman" panose="02020603050405020304" pitchFamily="18" charset="0"/>
                <a:cs typeface="Times New Roman" panose="02020603050405020304" pitchFamily="18" charset="0"/>
              </a:rPr>
              <a:t>Умумий</a:t>
            </a:r>
            <a:r>
              <a:rPr lang="ru-RU" dirty="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кўринишда</a:t>
            </a:r>
            <a:r>
              <a:rPr lang="ru-RU" dirty="0" smtClean="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тўғрилагич</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4 та </a:t>
            </a:r>
            <a:r>
              <a:rPr lang="ru-RU" dirty="0" err="1">
                <a:latin typeface="Times New Roman" panose="02020603050405020304" pitchFamily="18" charset="0"/>
                <a:cs typeface="Times New Roman" panose="02020603050405020304" pitchFamily="18" charset="0"/>
              </a:rPr>
              <a:t>асосий</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кисмлардан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иборат</a:t>
            </a:r>
            <a:r>
              <a:rPr lang="ru-RU" dirty="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булади</a:t>
            </a:r>
            <a:r>
              <a:rPr lang="en-US" dirty="0" smtClean="0">
                <a:latin typeface="Times New Roman" panose="02020603050405020304" pitchFamily="18" charset="0"/>
                <a:cs typeface="Times New Roman" panose="02020603050405020304" pitchFamily="18" charset="0"/>
              </a:rPr>
              <a:t>:</a:t>
            </a:r>
          </a:p>
          <a:p>
            <a:endParaRPr lang="ru-RU" dirty="0">
              <a:latin typeface="Times New Roman" panose="02020603050405020304" pitchFamily="18" charset="0"/>
              <a:cs typeface="Times New Roman" panose="02020603050405020304" pitchFamily="18" charset="0"/>
            </a:endParaRPr>
          </a:p>
          <a:p>
            <a:endParaRPr lang="ru-RU" dirty="0"/>
          </a:p>
        </p:txBody>
      </p:sp>
      <p:pic>
        <p:nvPicPr>
          <p:cNvPr id="1026" name="Рисунок 18" descr="C:\Users\User\AppData\Local\Temp\FineReader11\media\image34.png"/>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79714" y="4023361"/>
            <a:ext cx="10267406" cy="2246810"/>
          </a:xfrm>
          <a:prstGeom prst="rect">
            <a:avLst/>
          </a:pr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pic>
    </p:spTree>
    <p:extLst>
      <p:ext uri="{BB962C8B-B14F-4D97-AF65-F5344CB8AC3E}">
        <p14:creationId xmlns:p14="http://schemas.microsoft.com/office/powerpoint/2010/main" val="34408684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5578" y="483326"/>
            <a:ext cx="11142616" cy="600892"/>
          </a:xfrm>
        </p:spPr>
        <p:style>
          <a:lnRef idx="2">
            <a:schemeClr val="accent4">
              <a:shade val="50000"/>
            </a:schemeClr>
          </a:lnRef>
          <a:fillRef idx="1">
            <a:schemeClr val="accent4"/>
          </a:fillRef>
          <a:effectRef idx="0">
            <a:schemeClr val="accent4"/>
          </a:effectRef>
          <a:fontRef idx="minor">
            <a:schemeClr val="lt1"/>
          </a:fontRef>
        </p:style>
        <p:txBody>
          <a:bodyPr>
            <a:normAutofit fontScale="90000"/>
          </a:bodyPr>
          <a:lstStyle/>
          <a:p>
            <a:r>
              <a:rPr lang="ru-RU" dirty="0" err="1" smtClean="0">
                <a:latin typeface="Times New Roman" panose="02020603050405020304" pitchFamily="18" charset="0"/>
                <a:cs typeface="Times New Roman" panose="02020603050405020304" pitchFamily="18" charset="0"/>
              </a:rPr>
              <a:t>Асосий</a:t>
            </a:r>
            <a:r>
              <a:rPr lang="ru-RU" dirty="0" smtClean="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кисмлар</a:t>
            </a:r>
            <a:endParaRPr lang="ru-RU" dirty="0"/>
          </a:p>
        </p:txBody>
      </p:sp>
      <p:sp>
        <p:nvSpPr>
          <p:cNvPr id="3" name="Объект 2"/>
          <p:cNvSpPr>
            <a:spLocks noGrp="1"/>
          </p:cNvSpPr>
          <p:nvPr>
            <p:ph idx="1"/>
          </p:nvPr>
        </p:nvSpPr>
        <p:spPr>
          <a:xfrm>
            <a:off x="535578" y="1084218"/>
            <a:ext cx="11142616" cy="5290455"/>
          </a:xfrm>
        </p:spPr>
        <p:style>
          <a:lnRef idx="1">
            <a:schemeClr val="accent5"/>
          </a:lnRef>
          <a:fillRef idx="2">
            <a:schemeClr val="accent5"/>
          </a:fillRef>
          <a:effectRef idx="1">
            <a:schemeClr val="accent5"/>
          </a:effectRef>
          <a:fontRef idx="minor">
            <a:schemeClr val="dk1"/>
          </a:fontRef>
        </p:style>
        <p:txBody>
          <a:bodyPr>
            <a:normAutofit/>
          </a:bodyPr>
          <a:lstStyle/>
          <a:p>
            <a:r>
              <a:rPr lang="ru-RU" b="1" dirty="0">
                <a:latin typeface="Times New Roman" panose="02020603050405020304" pitchFamily="18" charset="0"/>
                <a:cs typeface="Times New Roman" panose="02020603050405020304" pitchFamily="18" charset="0"/>
              </a:rPr>
              <a:t>Трансформатор</a:t>
            </a:r>
            <a:r>
              <a:rPr lang="ru-RU" dirty="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ўзгарувчан</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ток </a:t>
            </a:r>
            <a:r>
              <a:rPr lang="ru-RU" dirty="0" err="1">
                <a:latin typeface="Times New Roman" panose="02020603050405020304" pitchFamily="18" charset="0"/>
                <a:cs typeface="Times New Roman" panose="02020603050405020304" pitchFamily="18" charset="0"/>
              </a:rPr>
              <a:t>тармоги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кучланишини</a:t>
            </a:r>
            <a:r>
              <a:rPr lang="ru-RU" dirty="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тўғриловчи</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элемент </a:t>
            </a:r>
            <a:r>
              <a:rPr lang="ru-RU" dirty="0" err="1">
                <a:latin typeface="Times New Roman" panose="02020603050405020304" pitchFamily="18" charset="0"/>
                <a:cs typeface="Times New Roman" panose="02020603050405020304" pitchFamily="18" charset="0"/>
              </a:rPr>
              <a:t>киришида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талаб</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килинадиган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кийматга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узгартиради</a:t>
            </a:r>
            <a:r>
              <a:rPr lang="ru-RU" dirty="0">
                <a:latin typeface="Times New Roman" panose="02020603050405020304" pitchFamily="18" charset="0"/>
                <a:cs typeface="Times New Roman" panose="02020603050405020304" pitchFamily="18" charset="0"/>
              </a:rPr>
              <a:t>.</a:t>
            </a:r>
          </a:p>
          <a:p>
            <a:r>
              <a:rPr lang="ru-RU" b="1" dirty="0" err="1">
                <a:latin typeface="Times New Roman" panose="02020603050405020304" pitchFamily="18" charset="0"/>
                <a:cs typeface="Times New Roman" panose="02020603050405020304" pitchFamily="18" charset="0"/>
              </a:rPr>
              <a:t>Вентиллар</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бир</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тамонлама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утказувчанликка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эга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ва</a:t>
            </a:r>
            <a:r>
              <a:rPr lang="ru-RU" dirty="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ўзгарувчан</a:t>
            </a:r>
            <a:r>
              <a:rPr lang="ru-RU" dirty="0" smtClean="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токни</a:t>
            </a:r>
            <a:r>
              <a:rPr lang="ru-RU" dirty="0" smtClean="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ўзгармас</a:t>
            </a:r>
            <a:r>
              <a:rPr lang="ru-RU" dirty="0" smtClean="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токка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узгартиришни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амалга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оширади</a:t>
            </a:r>
            <a:r>
              <a:rPr lang="ru-RU"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r>
              <a:rPr lang="ru-RU" dirty="0" err="1" smtClean="0">
                <a:latin typeface="Times New Roman" panose="02020603050405020304" pitchFamily="18" charset="0"/>
                <a:cs typeface="Times New Roman" panose="02020603050405020304" pitchFamily="18" charset="0"/>
              </a:rPr>
              <a:t>тўғрилагич</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дан </a:t>
            </a:r>
            <a:r>
              <a:rPr lang="ru-RU" dirty="0" err="1">
                <a:latin typeface="Times New Roman" panose="02020603050405020304" pitchFamily="18" charset="0"/>
                <a:cs typeface="Times New Roman" panose="02020603050405020304" pitchFamily="18" charset="0"/>
              </a:rPr>
              <a:t>кейин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кучланиш</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ёки</a:t>
            </a:r>
            <a:r>
              <a:rPr lang="ru-RU" dirty="0">
                <a:latin typeface="Times New Roman" panose="02020603050405020304" pitchFamily="18" charset="0"/>
                <a:cs typeface="Times New Roman" panose="02020603050405020304" pitchFamily="18" charset="0"/>
              </a:rPr>
              <a:t> ток </a:t>
            </a:r>
            <a:r>
              <a:rPr lang="ru-RU" dirty="0" err="1">
                <a:latin typeface="Times New Roman" panose="02020603050405020304" pitchFamily="18" charset="0"/>
                <a:cs typeface="Times New Roman" panose="02020603050405020304" pitchFamily="18" charset="0"/>
              </a:rPr>
              <a:t>пульсланувчан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булади</a:t>
            </a:r>
            <a:r>
              <a:rPr lang="ru-RU" dirty="0">
                <a:latin typeface="Times New Roman" panose="02020603050405020304" pitchFamily="18" charset="0"/>
                <a:cs typeface="Times New Roman" panose="02020603050405020304" pitchFamily="18" charset="0"/>
              </a:rPr>
              <a:t>. У ни </a:t>
            </a:r>
            <a:r>
              <a:rPr lang="ru-RU" dirty="0" err="1" smtClean="0">
                <a:latin typeface="Times New Roman" panose="02020603050405020304" pitchFamily="18" charset="0"/>
                <a:cs typeface="Times New Roman" panose="02020603050405020304" pitchFamily="18" charset="0"/>
              </a:rPr>
              <a:t>ўзгармас</a:t>
            </a:r>
            <a:r>
              <a:rPr lang="ru-RU" dirty="0" smtClean="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ва</a:t>
            </a:r>
            <a:r>
              <a:rPr lang="ru-RU" dirty="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ўзгарувчан</a:t>
            </a:r>
            <a:r>
              <a:rPr lang="ru-RU" dirty="0" smtClean="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ташкил</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этувчилардан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иборат</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деб</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тасаввур</a:t>
            </a:r>
            <a:r>
              <a:rPr lang="ru-RU" dirty="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қилиш</a:t>
            </a:r>
            <a:r>
              <a:rPr lang="ru-RU" dirty="0" smtClean="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мумкин</a:t>
            </a:r>
            <a:r>
              <a:rPr lang="ru-RU" dirty="0">
                <a:latin typeface="Times New Roman" panose="02020603050405020304" pitchFamily="18" charset="0"/>
                <a:cs typeface="Times New Roman" panose="02020603050405020304" pitchFamily="18" charset="0"/>
              </a:rPr>
              <a:t>. Телекоммуникация </a:t>
            </a:r>
            <a:r>
              <a:rPr lang="ru-RU" dirty="0" err="1">
                <a:latin typeface="Times New Roman" panose="02020603050405020304" pitchFamily="18" charset="0"/>
                <a:cs typeface="Times New Roman" panose="02020603050405020304" pitchFamily="18" charset="0"/>
              </a:rPr>
              <a:t>аппаратуралари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пульсланувчан</a:t>
            </a:r>
            <a:r>
              <a:rPr lang="ru-RU" dirty="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ўзгармас</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ток </a:t>
            </a:r>
            <a:r>
              <a:rPr lang="ru-RU" dirty="0" err="1">
                <a:latin typeface="Times New Roman" panose="02020603050405020304" pitchFamily="18" charset="0"/>
                <a:cs typeface="Times New Roman" panose="02020603050405020304" pitchFamily="18" charset="0"/>
              </a:rPr>
              <a:t>билан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таъминланганда</a:t>
            </a:r>
            <a:r>
              <a:rPr lang="ru-RU" dirty="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алоқа</a:t>
            </a:r>
            <a:r>
              <a:rPr lang="ru-RU" dirty="0" smtClean="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сигналларини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узатишда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жиддий</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халакитлар</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юзага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келиши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мумкин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Бунга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рухсат</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этилмайди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пульсацияни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камайтириш</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чоралари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курилади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Бунинг</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учун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вентиллар</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ва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таъминланадиган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аппаратуралар</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орасига</a:t>
            </a:r>
            <a:r>
              <a:rPr lang="ru-RU" dirty="0">
                <a:latin typeface="Times New Roman" panose="02020603050405020304" pitchFamily="18" charset="0"/>
                <a:cs typeface="Times New Roman" panose="02020603050405020304" pitchFamily="18" charset="0"/>
              </a:rPr>
              <a:t> </a:t>
            </a:r>
            <a:r>
              <a:rPr lang="ru-RU" b="1" dirty="0" err="1" smtClean="0">
                <a:latin typeface="Times New Roman" panose="02020603050405020304" pitchFamily="18" charset="0"/>
                <a:cs typeface="Times New Roman" panose="02020603050405020304" pitchFamily="18" charset="0"/>
              </a:rPr>
              <a:t>силлиқловчи</a:t>
            </a:r>
            <a:r>
              <a:rPr lang="ru-RU" b="1" dirty="0" smtClean="0">
                <a:latin typeface="Times New Roman" panose="02020603050405020304" pitchFamily="18" charset="0"/>
                <a:cs typeface="Times New Roman" panose="02020603050405020304" pitchFamily="18" charset="0"/>
              </a:rPr>
              <a:t> </a:t>
            </a:r>
            <a:r>
              <a:rPr lang="ru-RU" b="1" dirty="0">
                <a:latin typeface="Times New Roman" panose="02020603050405020304" pitchFamily="18" charset="0"/>
                <a:cs typeface="Times New Roman" panose="02020603050405020304" pitchFamily="18" charset="0"/>
              </a:rPr>
              <a:t>фильтр </a:t>
            </a:r>
            <a:r>
              <a:rPr lang="ru-RU" dirty="0" err="1">
                <a:latin typeface="Times New Roman" panose="02020603050405020304" pitchFamily="18" charset="0"/>
                <a:cs typeface="Times New Roman" panose="02020603050405020304" pitchFamily="18" charset="0"/>
              </a:rPr>
              <a:t>куйилади</a:t>
            </a:r>
            <a:r>
              <a:rPr lang="ru-RU"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296909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83326" y="509451"/>
            <a:ext cx="11194868" cy="6063198"/>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spcAft>
                <a:spcPts val="0"/>
              </a:spcAft>
            </a:pPr>
            <a:r>
              <a:rPr lang="en-US" sz="3600" dirty="0">
                <a:latin typeface="Times New Roman" panose="02020603050405020304" pitchFamily="18" charset="0"/>
                <a:ea typeface="Calibri" panose="020F0502020204030204" pitchFamily="34" charset="0"/>
              </a:rPr>
              <a:t> </a:t>
            </a:r>
            <a:r>
              <a:rPr lang="en-US" sz="3600" dirty="0" smtClean="0">
                <a:latin typeface="Times New Roman" panose="02020603050405020304" pitchFamily="18" charset="0"/>
                <a:ea typeface="Calibri" panose="020F0502020204030204" pitchFamily="34" charset="0"/>
              </a:rPr>
              <a:t>    </a:t>
            </a:r>
            <a:r>
              <a:rPr lang="ru-RU" sz="3600" dirty="0" err="1" smtClean="0">
                <a:latin typeface="Times New Roman" panose="02020603050405020304" pitchFamily="18" charset="0"/>
                <a:ea typeface="Calibri" panose="020F0502020204030204" pitchFamily="34" charset="0"/>
              </a:rPr>
              <a:t>тўғрилагичнинг</a:t>
            </a:r>
            <a:r>
              <a:rPr lang="ru-RU" sz="3600" dirty="0" smtClean="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чикиш</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кучланиши</a:t>
            </a:r>
            <a:r>
              <a:rPr lang="ru-RU" sz="3600" dirty="0">
                <a:latin typeface="Times New Roman" panose="02020603050405020304" pitchFamily="18" charset="0"/>
                <a:ea typeface="Calibri" panose="020F0502020204030204" pitchFamily="34" charset="0"/>
              </a:rPr>
              <a:t> 10... 15 </a:t>
            </a:r>
            <a:r>
              <a:rPr lang="ru-RU" sz="3600" dirty="0" err="1">
                <a:latin typeface="Times New Roman" panose="02020603050405020304" pitchFamily="18" charset="0"/>
                <a:ea typeface="Calibri" panose="020F0502020204030204" pitchFamily="34" charset="0"/>
              </a:rPr>
              <a:t>фоизга</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узгариши</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мумкин</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булган</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таъминот</a:t>
            </a:r>
            <a:r>
              <a:rPr lang="ru-RU" sz="3600" dirty="0">
                <a:latin typeface="Times New Roman" panose="02020603050405020304" pitchFamily="18" charset="0"/>
                <a:ea typeface="Calibri" panose="020F0502020204030204" pitchFamily="34" charset="0"/>
              </a:rPr>
              <a:t> </a:t>
            </a:r>
            <a:r>
              <a:rPr lang="ru-RU" sz="3600" dirty="0" err="1" smtClean="0">
                <a:latin typeface="Times New Roman" panose="02020603050405020304" pitchFamily="18" charset="0"/>
                <a:ea typeface="Calibri" panose="020F0502020204030204" pitchFamily="34" charset="0"/>
              </a:rPr>
              <a:t>ўзгарувчан</a:t>
            </a:r>
            <a:r>
              <a:rPr lang="ru-RU" sz="3600" dirty="0" smtClean="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кучланиш</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кийматига</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боглик</a:t>
            </a:r>
            <a:r>
              <a:rPr lang="ru-RU" sz="3600" dirty="0">
                <a:latin typeface="Times New Roman" panose="02020603050405020304" pitchFamily="18" charset="0"/>
                <a:ea typeface="Calibri" panose="020F0502020204030204" pitchFamily="34" charset="0"/>
              </a:rPr>
              <a:t>. Телекоммуникация </a:t>
            </a:r>
            <a:r>
              <a:rPr lang="ru-RU" sz="3600" dirty="0" err="1">
                <a:latin typeface="Times New Roman" panose="02020603050405020304" pitchFamily="18" charset="0"/>
                <a:ea typeface="Calibri" panose="020F0502020204030204" pitchFamily="34" charset="0"/>
              </a:rPr>
              <a:t>аппаратураларида</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купинча</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бундай</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сезиларли</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тебранишга</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рухсат</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берилмайди</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Шунинг</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учун</a:t>
            </a:r>
            <a:r>
              <a:rPr lang="ru-RU" sz="3600" dirty="0">
                <a:latin typeface="Times New Roman" panose="02020603050405020304" pitchFamily="18" charset="0"/>
                <a:ea typeface="Calibri" panose="020F0502020204030204" pitchFamily="34" charset="0"/>
              </a:rPr>
              <a:t> </a:t>
            </a:r>
            <a:r>
              <a:rPr lang="ru-RU" sz="3600" dirty="0" err="1" smtClean="0">
                <a:latin typeface="Times New Roman" panose="02020603050405020304" pitchFamily="18" charset="0"/>
                <a:ea typeface="Calibri" panose="020F0502020204030204" pitchFamily="34" charset="0"/>
              </a:rPr>
              <a:t>замонавий</a:t>
            </a:r>
            <a:r>
              <a:rPr lang="ru-RU" sz="3600" dirty="0" smtClean="0">
                <a:latin typeface="Times New Roman" panose="02020603050405020304" pitchFamily="18" charset="0"/>
                <a:ea typeface="Calibri" panose="020F0502020204030204" pitchFamily="34" charset="0"/>
              </a:rPr>
              <a:t> </a:t>
            </a:r>
            <a:r>
              <a:rPr lang="ru-RU" sz="3600" dirty="0" err="1" smtClean="0">
                <a:latin typeface="Times New Roman" panose="02020603050405020304" pitchFamily="18" charset="0"/>
                <a:ea typeface="Calibri" panose="020F0502020204030204" pitchFamily="34" charset="0"/>
              </a:rPr>
              <a:t>тўғрилагичларда</a:t>
            </a:r>
            <a:r>
              <a:rPr lang="ru-RU" sz="3600" dirty="0" smtClean="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фильтрдан</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кейин</a:t>
            </a:r>
            <a:r>
              <a:rPr lang="ru-RU" sz="3600" dirty="0">
                <a:latin typeface="Times New Roman" panose="02020603050405020304" pitchFamily="18" charset="0"/>
                <a:ea typeface="Calibri" panose="020F0502020204030204" pitchFamily="34" charset="0"/>
              </a:rPr>
              <a:t> ток </a:t>
            </a:r>
            <a:r>
              <a:rPr lang="ru-RU" sz="3600" dirty="0" err="1">
                <a:latin typeface="Times New Roman" panose="02020603050405020304" pitchFamily="18" charset="0"/>
                <a:ea typeface="Calibri" panose="020F0502020204030204" pitchFamily="34" charset="0"/>
              </a:rPr>
              <a:t>ва</a:t>
            </a:r>
            <a:r>
              <a:rPr lang="ru-RU" sz="3600" dirty="0">
                <a:latin typeface="Times New Roman" panose="02020603050405020304" pitchFamily="18" charset="0"/>
                <a:ea typeface="Calibri" panose="020F0502020204030204" pitchFamily="34" charset="0"/>
              </a:rPr>
              <a:t> </a:t>
            </a:r>
            <a:r>
              <a:rPr lang="ru-RU" sz="3600" dirty="0" err="1" smtClean="0">
                <a:latin typeface="Times New Roman" panose="02020603050405020304" pitchFamily="18" charset="0"/>
                <a:ea typeface="Calibri" panose="020F0502020204030204" pitchFamily="34" charset="0"/>
              </a:rPr>
              <a:t>кучланиш</a:t>
            </a:r>
            <a:r>
              <a:rPr lang="ru-RU" sz="3600" dirty="0" smtClean="0">
                <a:latin typeface="Times New Roman" panose="02020603050405020304" pitchFamily="18" charset="0"/>
                <a:ea typeface="Calibri" panose="020F0502020204030204" pitchFamily="34" charset="0"/>
              </a:rPr>
              <a:t> </a:t>
            </a:r>
            <a:r>
              <a:rPr lang="ru-RU" sz="3600" b="1" dirty="0" err="1">
                <a:latin typeface="Times New Roman" panose="02020603050405020304" pitchFamily="18" charset="0"/>
                <a:ea typeface="Calibri" panose="020F0502020204030204" pitchFamily="34" charset="0"/>
              </a:rPr>
              <a:t>стабилизаторлари</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куйилади</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Бу</a:t>
            </a:r>
            <a:r>
              <a:rPr lang="ru-RU" sz="3600" dirty="0">
                <a:latin typeface="Times New Roman" panose="02020603050405020304" pitchFamily="18" charset="0"/>
                <a:ea typeface="Calibri" panose="020F0502020204030204" pitchFamily="34" charset="0"/>
              </a:rPr>
              <a:t> звено дан </a:t>
            </a:r>
            <a:r>
              <a:rPr lang="ru-RU" sz="3600" dirty="0" err="1">
                <a:latin typeface="Times New Roman" panose="02020603050405020304" pitchFamily="18" charset="0"/>
                <a:ea typeface="Calibri" panose="020F0502020204030204" pitchFamily="34" charset="0"/>
              </a:rPr>
              <a:t>ташкари</a:t>
            </a:r>
            <a:r>
              <a:rPr lang="ru-RU" sz="3600" dirty="0">
                <a:latin typeface="Times New Roman" panose="02020603050405020304" pitchFamily="18" charset="0"/>
                <a:ea typeface="Calibri" panose="020F0502020204030204" pitchFamily="34" charset="0"/>
              </a:rPr>
              <a:t> </a:t>
            </a:r>
            <a:r>
              <a:rPr lang="ru-RU" sz="3600" dirty="0" err="1" smtClean="0">
                <a:latin typeface="Times New Roman" panose="02020603050405020304" pitchFamily="18" charset="0"/>
                <a:ea typeface="Calibri" panose="020F0502020204030204" pitchFamily="34" charset="0"/>
              </a:rPr>
              <a:t>тўғрилаш</a:t>
            </a:r>
            <a:r>
              <a:rPr lang="ru-RU" sz="3600" dirty="0" smtClean="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курилмасида</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коммутациялаш</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аппаратураси</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хдмоялаш</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занжири</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ва</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бошкалар</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булиши</a:t>
            </a:r>
            <a:r>
              <a:rPr lang="ru-RU" sz="3600" dirty="0">
                <a:latin typeface="Times New Roman" panose="02020603050405020304" pitchFamily="18" charset="0"/>
                <a:ea typeface="Calibri" panose="020F0502020204030204" pitchFamily="34" charset="0"/>
              </a:rPr>
              <a:t> </a:t>
            </a:r>
            <a:r>
              <a:rPr lang="ru-RU" sz="3600" dirty="0" err="1">
                <a:latin typeface="Times New Roman" panose="02020603050405020304" pitchFamily="18" charset="0"/>
                <a:ea typeface="Calibri" panose="020F0502020204030204" pitchFamily="34" charset="0"/>
              </a:rPr>
              <a:t>мумкин</a:t>
            </a:r>
            <a:r>
              <a:rPr lang="ru-RU" sz="3600" dirty="0">
                <a:latin typeface="Times New Roman" panose="02020603050405020304" pitchFamily="18" charset="0"/>
                <a:ea typeface="Calibri" panose="020F0502020204030204" pitchFamily="34" charset="0"/>
              </a:rPr>
              <a:t>.</a:t>
            </a:r>
          </a:p>
          <a:p>
            <a:pPr>
              <a:spcAft>
                <a:spcPts val="0"/>
              </a:spcAft>
            </a:pPr>
            <a:r>
              <a:rPr lang="ru-RU" sz="2800" dirty="0">
                <a:latin typeface="Times New Roman" panose="02020603050405020304" pitchFamily="18" charset="0"/>
                <a:ea typeface="Calibri" panose="020F0502020204030204" pitchFamily="34" charset="0"/>
              </a:rPr>
              <a:t> </a:t>
            </a:r>
            <a:endParaRPr lang="ru-RU" sz="2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3830546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
            <a:ext cx="12191999" cy="640080"/>
          </a:xfrm>
        </p:spPr>
        <p:style>
          <a:lnRef idx="3">
            <a:schemeClr val="lt1"/>
          </a:lnRef>
          <a:fillRef idx="1">
            <a:schemeClr val="accent5"/>
          </a:fillRef>
          <a:effectRef idx="1">
            <a:schemeClr val="accent5"/>
          </a:effectRef>
          <a:fontRef idx="minor">
            <a:schemeClr val="lt1"/>
          </a:fontRef>
        </p:style>
        <p:txBody>
          <a:bodyPr>
            <a:normAutofit fontScale="90000"/>
          </a:bodyPr>
          <a:lstStyle/>
          <a:p>
            <a:r>
              <a:rPr lang="en-US" b="1" dirty="0" smtClean="0"/>
              <a:t/>
            </a:r>
            <a:br>
              <a:rPr lang="en-US" b="1" dirty="0" smtClean="0"/>
            </a:br>
            <a:r>
              <a:rPr lang="uz-Cyrl-UZ" b="1" dirty="0" smtClean="0"/>
              <a:t>Битта </a:t>
            </a:r>
            <a:r>
              <a:rPr lang="uz-Cyrl-UZ" b="1" dirty="0"/>
              <a:t>ярим даврли тўғирлагич.</a:t>
            </a:r>
            <a:r>
              <a:rPr lang="ru-RU" dirty="0"/>
              <a:t/>
            </a:r>
            <a:br>
              <a:rPr lang="ru-RU" dirty="0"/>
            </a:br>
            <a:endParaRPr lang="ru-RU" b="1" dirty="0"/>
          </a:p>
        </p:txBody>
      </p:sp>
      <p:pic>
        <p:nvPicPr>
          <p:cNvPr id="4" name="Объект 3"/>
          <p:cNvPicPr>
            <a:picLocks noGrp="1" noChangeAspect="1"/>
          </p:cNvPicPr>
          <p:nvPr>
            <p:ph idx="1"/>
          </p:nvPr>
        </p:nvPicPr>
        <p:blipFill rotWithShape="1">
          <a:blip r:embed="rId2"/>
          <a:srcRect l="12867" t="23964" r="58308" b="17119"/>
          <a:stretch/>
        </p:blipFill>
        <p:spPr>
          <a:xfrm>
            <a:off x="0" y="1189325"/>
            <a:ext cx="6590001" cy="3961014"/>
          </a:xfrm>
          <a:prstGeom prst="rect">
            <a:avLst/>
          </a:prstGeom>
        </p:spPr>
      </p:pic>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0001" y="1189325"/>
            <a:ext cx="5601998" cy="4257675"/>
          </a:xfrm>
          <a:prstGeom prst="rect">
            <a:avLst/>
          </a:prstGeom>
        </p:spPr>
      </p:pic>
    </p:spTree>
    <p:extLst>
      <p:ext uri="{BB962C8B-B14F-4D97-AF65-F5344CB8AC3E}">
        <p14:creationId xmlns:p14="http://schemas.microsoft.com/office/powerpoint/2010/main" val="20445096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83327" y="0"/>
            <a:ext cx="11234056" cy="809897"/>
          </a:xfrm>
        </p:spPr>
        <p:style>
          <a:lnRef idx="2">
            <a:schemeClr val="accent5">
              <a:shade val="50000"/>
            </a:schemeClr>
          </a:lnRef>
          <a:fillRef idx="1">
            <a:schemeClr val="accent5"/>
          </a:fillRef>
          <a:effectRef idx="0">
            <a:schemeClr val="accent5"/>
          </a:effectRef>
          <a:fontRef idx="minor">
            <a:schemeClr val="lt1"/>
          </a:fontRef>
        </p:style>
        <p:txBody>
          <a:bodyPr>
            <a:normAutofit fontScale="90000"/>
          </a:bodyPr>
          <a:lstStyle/>
          <a:p>
            <a:r>
              <a:rPr lang="en-US" b="1" dirty="0" smtClean="0"/>
              <a:t/>
            </a:r>
            <a:br>
              <a:rPr lang="en-US" b="1" dirty="0" smtClean="0"/>
            </a:br>
            <a:r>
              <a:rPr lang="uz-Cyrl-UZ" b="1" dirty="0" smtClean="0"/>
              <a:t>Кўприкли </a:t>
            </a:r>
            <a:r>
              <a:rPr lang="uz-Cyrl-UZ" b="1" dirty="0"/>
              <a:t>икки  ярим даврли тўғирлагич.</a:t>
            </a:r>
            <a:r>
              <a:rPr lang="ru-RU" dirty="0"/>
              <a:t/>
            </a:r>
            <a:br>
              <a:rPr lang="ru-RU" dirty="0"/>
            </a:br>
            <a:endParaRPr lang="ru-RU" dirty="0"/>
          </a:p>
        </p:txBody>
      </p:sp>
      <p:pic>
        <p:nvPicPr>
          <p:cNvPr id="4" name="Объект 3"/>
          <p:cNvPicPr>
            <a:picLocks noGrp="1" noChangeAspect="1"/>
          </p:cNvPicPr>
          <p:nvPr>
            <p:ph idx="1"/>
          </p:nvPr>
        </p:nvPicPr>
        <p:blipFill rotWithShape="1">
          <a:blip r:embed="rId2"/>
          <a:srcRect l="56557" t="27669" r="11120" b="11186"/>
          <a:stretch/>
        </p:blipFill>
        <p:spPr>
          <a:xfrm>
            <a:off x="154616" y="809898"/>
            <a:ext cx="7150528" cy="5577048"/>
          </a:xfrm>
          <a:prstGeom prst="rect">
            <a:avLst/>
          </a:prstGeom>
        </p:spPr>
      </p:pic>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5805" y="1982065"/>
            <a:ext cx="4547322" cy="2465243"/>
          </a:xfrm>
          <a:prstGeom prst="rect">
            <a:avLst/>
          </a:prstGeom>
        </p:spPr>
      </p:pic>
    </p:spTree>
    <p:extLst>
      <p:ext uri="{BB962C8B-B14F-4D97-AF65-F5344CB8AC3E}">
        <p14:creationId xmlns:p14="http://schemas.microsoft.com/office/powerpoint/2010/main" val="22334326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1704435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295401" y="953589"/>
            <a:ext cx="9601196" cy="4922279"/>
          </a:xfrm>
        </p:spPr>
        <p:style>
          <a:lnRef idx="1">
            <a:schemeClr val="accent5"/>
          </a:lnRef>
          <a:fillRef idx="2">
            <a:schemeClr val="accent5"/>
          </a:fillRef>
          <a:effectRef idx="1">
            <a:schemeClr val="accent5"/>
          </a:effectRef>
          <a:fontRef idx="minor">
            <a:schemeClr val="dk1"/>
          </a:fontRef>
        </p:style>
        <p:txBody>
          <a:bodyPr>
            <a:normAutofit/>
          </a:bodyPr>
          <a:lstStyle/>
          <a:p>
            <a:r>
              <a:rPr lang="uz-Latn-UZ" sz="2800" dirty="0">
                <a:latin typeface="Times New Roman" panose="02020603050405020304" pitchFamily="18" charset="0"/>
                <a:cs typeface="Times New Roman" panose="02020603050405020304" pitchFamily="18" charset="0"/>
              </a:rPr>
              <a:t>Kondensator kuchlanish ortgan paytda zaryadlanadi. Kuchlanish kamayganda esa kondensator to’plangan elektr maydon energiyasini yuklanishga beradi va natijasida kondensator razryadlanadi. Kondensator o’ziga berilgan kuchla nishning o’zgarishiga nisbatan sekin zaryadlanadi va razryadlanadi. SHuning uchun kondensator va yuklanishdagi kuchlanish juda kam pulslanadi. Kondensatorli filtr kichik quvvatli to’g’rilagichlarda qo’llaniladi.</a:t>
            </a:r>
            <a:endParaRPr lang="ru-RU" sz="2800" dirty="0">
              <a:latin typeface="Times New Roman" panose="02020603050405020304" pitchFamily="18" charset="0"/>
              <a:cs typeface="Times New Roman" panose="02020603050405020304" pitchFamily="18" charset="0"/>
            </a:endParaRPr>
          </a:p>
          <a:p>
            <a:endParaRPr lang="ru-RU"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6471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2" y="982132"/>
            <a:ext cx="9601196" cy="45719"/>
          </a:xfrm>
        </p:spPr>
        <p:txBody>
          <a:bodyPr>
            <a:normAutofit fontScale="90000"/>
          </a:bodyPr>
          <a:lstStyle/>
          <a:p>
            <a:r>
              <a:rPr lang="uz-Latn-UZ" b="1" dirty="0"/>
              <a:t>Tekislovchi filtrlar.</a:t>
            </a:r>
            <a:endParaRPr lang="ru-RU" dirty="0"/>
          </a:p>
        </p:txBody>
      </p:sp>
      <p:sp>
        <p:nvSpPr>
          <p:cNvPr id="3" name="Объект 2"/>
          <p:cNvSpPr>
            <a:spLocks noGrp="1"/>
          </p:cNvSpPr>
          <p:nvPr>
            <p:ph idx="1"/>
          </p:nvPr>
        </p:nvSpPr>
        <p:spPr>
          <a:xfrm>
            <a:off x="1295401" y="1358537"/>
            <a:ext cx="9601196" cy="4517331"/>
          </a:xfrm>
        </p:spPr>
        <p:style>
          <a:lnRef idx="1">
            <a:schemeClr val="accent5"/>
          </a:lnRef>
          <a:fillRef idx="2">
            <a:schemeClr val="accent5"/>
          </a:fillRef>
          <a:effectRef idx="1">
            <a:schemeClr val="accent5"/>
          </a:effectRef>
          <a:fontRef idx="minor">
            <a:schemeClr val="dk1"/>
          </a:fontRef>
        </p:style>
        <p:txBody>
          <a:bodyPr/>
          <a:lstStyle/>
          <a:p>
            <a:r>
              <a:rPr lang="uz-Latn-UZ" dirty="0"/>
              <a:t>To’g’rilagich hosil qilib bergan pulslanuvchi kuchlanish o’zgaruvchan va o’zgarmas tashkil etuvchilardan iborat bo’ladi. Filtr pulslanuvchi kuchlanishning o’zgaruvchan tashkil etuvchisini kamaytirib berish kerak, lekin u o’zgarmas tashkil etuvchini ham kamaytirishi </a:t>
            </a:r>
            <a:r>
              <a:rPr lang="uz-Latn-UZ" dirty="0" smtClean="0"/>
              <a:t>mumkin.YUklanishga </a:t>
            </a:r>
            <a:r>
              <a:rPr lang="uz-Latn-UZ" dirty="0"/>
              <a:t>kondensator parallel yoki ketma-ket ulangan drossel sodda tekislovchi filtr hisoblanadi. </a:t>
            </a:r>
            <a:endParaRPr lang="ru-RU" dirty="0"/>
          </a:p>
          <a:p>
            <a:endParaRPr lang="ru-RU" dirty="0"/>
          </a:p>
        </p:txBody>
      </p:sp>
      <p:pic>
        <p:nvPicPr>
          <p:cNvPr id="4" name="Рисунок 3"/>
          <p:cNvPicPr/>
          <p:nvPr/>
        </p:nvPicPr>
        <p:blipFill>
          <a:blip r:embed="rId2"/>
          <a:srcRect/>
          <a:stretch>
            <a:fillRect/>
          </a:stretch>
        </p:blipFill>
        <p:spPr bwMode="auto">
          <a:xfrm>
            <a:off x="1295401" y="3553097"/>
            <a:ext cx="9601196" cy="2653457"/>
          </a:xfrm>
          <a:prstGeom prst="rect">
            <a:avLst/>
          </a:prstGeom>
          <a:noFill/>
          <a:ln w="9525">
            <a:noFill/>
            <a:miter lim="800000"/>
            <a:headEnd/>
            <a:tailEnd/>
          </a:ln>
        </p:spPr>
      </p:pic>
    </p:spTree>
    <p:extLst>
      <p:ext uri="{BB962C8B-B14F-4D97-AF65-F5344CB8AC3E}">
        <p14:creationId xmlns:p14="http://schemas.microsoft.com/office/powerpoint/2010/main" val="31377914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295401" y="875211"/>
            <a:ext cx="9601196" cy="4493623"/>
          </a:xfrm>
        </p:spPr>
        <p:style>
          <a:lnRef idx="1">
            <a:schemeClr val="accent5"/>
          </a:lnRef>
          <a:fillRef idx="2">
            <a:schemeClr val="accent5"/>
          </a:fillRef>
          <a:effectRef idx="1">
            <a:schemeClr val="accent5"/>
          </a:effectRef>
          <a:fontRef idx="minor">
            <a:schemeClr val="dk1"/>
          </a:fontRef>
        </p:style>
        <p:txBody>
          <a:bodyPr>
            <a:normAutofit/>
          </a:bodyPr>
          <a:lstStyle/>
          <a:p>
            <a:r>
              <a:rPr lang="uz-Latn-UZ" sz="3200" dirty="0">
                <a:latin typeface="Times New Roman" panose="02020603050405020304" pitchFamily="18" charset="0"/>
                <a:cs typeface="Times New Roman" panose="02020603050405020304" pitchFamily="18" charset="0"/>
              </a:rPr>
              <a:t>Drosselli filtr quyidagicha ishlaydi. Drosseldan o’tayotgan tok o’zgarganda unda o’zinduksiya elektr yurituvchi kuchi hosil bo’ladi. Bu EYUK tokning o’zgarishiga to’sqinlik qiladi. Drosseldan o’tayotgan tok ko’paygan yoki kamaygan paytda o’zinduksiya EYUK tokka qarama-qarshi bo’lib, uning pulslanishini kamaytiradi.</a:t>
            </a:r>
            <a:endParaRPr lang="ru-RU" sz="3200" dirty="0">
              <a:latin typeface="Times New Roman" panose="02020603050405020304" pitchFamily="18" charset="0"/>
              <a:cs typeface="Times New Roman" panose="02020603050405020304" pitchFamily="18" charset="0"/>
            </a:endParaRPr>
          </a:p>
          <a:p>
            <a:endParaRPr lang="ru-RU"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57656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rotWithShape="1">
          <a:blip r:embed="rId2"/>
          <a:srcRect l="30373" t="21740" r="26463" b="33538"/>
          <a:stretch/>
        </p:blipFill>
        <p:spPr>
          <a:xfrm>
            <a:off x="509451" y="483325"/>
            <a:ext cx="11181806" cy="5878286"/>
          </a:xfrm>
          <a:prstGeom prst="rect">
            <a:avLst/>
          </a:prstGeom>
        </p:spPr>
      </p:pic>
    </p:spTree>
    <p:extLst>
      <p:ext uri="{BB962C8B-B14F-4D97-AF65-F5344CB8AC3E}">
        <p14:creationId xmlns:p14="http://schemas.microsoft.com/office/powerpoint/2010/main" val="26659437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Рисунок 11"/>
          <p:cNvPicPr>
            <a:picLocks noChangeAspect="1"/>
          </p:cNvPicPr>
          <p:nvPr/>
        </p:nvPicPr>
        <p:blipFill rotWithShape="1">
          <a:blip r:embed="rId2"/>
          <a:srcRect l="19212" t="29018" r="13924" b="24732"/>
          <a:stretch/>
        </p:blipFill>
        <p:spPr>
          <a:xfrm>
            <a:off x="169817" y="91439"/>
            <a:ext cx="11900263" cy="6662057"/>
          </a:xfrm>
          <a:prstGeom prst="rect">
            <a:avLst/>
          </a:prstGeom>
        </p:spPr>
      </p:pic>
    </p:spTree>
    <p:extLst>
      <p:ext uri="{BB962C8B-B14F-4D97-AF65-F5344CB8AC3E}">
        <p14:creationId xmlns:p14="http://schemas.microsoft.com/office/powerpoint/2010/main" val="1484030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2" y="207819"/>
            <a:ext cx="9601196" cy="976746"/>
          </a:xfrm>
        </p:spPr>
        <p:style>
          <a:lnRef idx="3">
            <a:schemeClr val="lt1"/>
          </a:lnRef>
          <a:fillRef idx="1">
            <a:schemeClr val="accent5"/>
          </a:fillRef>
          <a:effectRef idx="1">
            <a:schemeClr val="accent5"/>
          </a:effectRef>
          <a:fontRef idx="minor">
            <a:schemeClr val="lt1"/>
          </a:fontRef>
        </p:style>
        <p:txBody>
          <a:bodyPr>
            <a:normAutofit/>
          </a:bodyPr>
          <a:lstStyle/>
          <a:p>
            <a:r>
              <a:rPr lang="en-US" dirty="0" err="1" smtClean="0"/>
              <a:t>Qurilmaning</a:t>
            </a:r>
            <a:r>
              <a:rPr lang="en-US" dirty="0" smtClean="0"/>
              <a:t> </a:t>
            </a:r>
            <a:r>
              <a:rPr lang="en-US" dirty="0" err="1" smtClean="0"/>
              <a:t>tayyorlanish</a:t>
            </a:r>
            <a:r>
              <a:rPr lang="en-US" dirty="0" smtClean="0"/>
              <a:t> </a:t>
            </a:r>
            <a:r>
              <a:rPr lang="en-US" dirty="0" err="1" smtClean="0"/>
              <a:t>jarayoni</a:t>
            </a:r>
            <a:r>
              <a:rPr lang="en-US" dirty="0" smtClean="0"/>
              <a:t>:</a:t>
            </a:r>
            <a:endParaRPr lang="ru-RU" dirty="0"/>
          </a:p>
        </p:txBody>
      </p:sp>
      <p:pic>
        <p:nvPicPr>
          <p:cNvPr id="7" name="Объект 6"/>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61109" y="1745673"/>
            <a:ext cx="5465617" cy="4675910"/>
          </a:xfrm>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pic>
      <p:pic>
        <p:nvPicPr>
          <p:cNvPr id="8" name="Объект 7"/>
          <p:cNvPicPr>
            <a:picLocks noGrp="1" noChangeAspect="1"/>
          </p:cNvPicPr>
          <p:nvPr>
            <p:ph sz="quarter" idx="4"/>
          </p:nvPr>
        </p:nvPicPr>
        <p:blipFill>
          <a:blip r:embed="rId3" cstate="print">
            <a:extLst>
              <a:ext uri="{28A0092B-C50C-407E-A947-70E740481C1C}">
                <a14:useLocalDpi xmlns:a14="http://schemas.microsoft.com/office/drawing/2010/main" val="0"/>
              </a:ext>
            </a:extLst>
          </a:blip>
          <a:stretch>
            <a:fillRect/>
          </a:stretch>
        </p:blipFill>
        <p:spPr>
          <a:xfrm>
            <a:off x="6213764" y="1745673"/>
            <a:ext cx="5507181" cy="4675910"/>
          </a:xfrm>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7127920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2">
            <a:extLst>
              <a:ext uri="{28A0092B-C50C-407E-A947-70E740481C1C}">
                <a14:useLocalDpi xmlns:a14="http://schemas.microsoft.com/office/drawing/2010/main" val="0"/>
              </a:ext>
            </a:extLst>
          </a:blip>
          <a:srcRect b="25905"/>
          <a:stretch/>
        </p:blipFill>
        <p:spPr>
          <a:xfrm>
            <a:off x="0" y="0"/>
            <a:ext cx="12192000" cy="6858000"/>
          </a:xfrm>
          <a:prstGeom prst="rect">
            <a:avLst/>
          </a:prstGeom>
        </p:spPr>
      </p:pic>
    </p:spTree>
    <p:extLst>
      <p:ext uri="{BB962C8B-B14F-4D97-AF65-F5344CB8AC3E}">
        <p14:creationId xmlns:p14="http://schemas.microsoft.com/office/powerpoint/2010/main" val="5908284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2">
            <a:extLst>
              <a:ext uri="{28A0092B-C50C-407E-A947-70E740481C1C}">
                <a14:useLocalDpi xmlns:a14="http://schemas.microsoft.com/office/drawing/2010/main" val="0"/>
              </a:ext>
            </a:extLst>
          </a:blip>
          <a:srcRect b="23238"/>
          <a:stretch/>
        </p:blipFill>
        <p:spPr>
          <a:xfrm>
            <a:off x="261257" y="0"/>
            <a:ext cx="11652070" cy="6858000"/>
          </a:xfrm>
          <a:prstGeom prst="rect">
            <a:avLst/>
          </a:prstGeom>
        </p:spPr>
      </p:pic>
    </p:spTree>
    <p:extLst>
      <p:ext uri="{BB962C8B-B14F-4D97-AF65-F5344CB8AC3E}">
        <p14:creationId xmlns:p14="http://schemas.microsoft.com/office/powerpoint/2010/main" val="17187901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22288"/>
          <a:stretch/>
        </p:blipFill>
        <p:spPr>
          <a:xfrm>
            <a:off x="274320" y="0"/>
            <a:ext cx="11756571" cy="6857999"/>
          </a:xfrm>
        </p:spPr>
      </p:pic>
    </p:spTree>
    <p:extLst>
      <p:ext uri="{BB962C8B-B14F-4D97-AF65-F5344CB8AC3E}">
        <p14:creationId xmlns:p14="http://schemas.microsoft.com/office/powerpoint/2010/main" val="38409236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z-Latn-UZ" b="1" dirty="0"/>
              <a:t>Tiristorli to’g’rilagich</a:t>
            </a:r>
            <a:endParaRPr lang="ru-RU" dirty="0"/>
          </a:p>
        </p:txBody>
      </p:sp>
      <p:sp>
        <p:nvSpPr>
          <p:cNvPr id="3" name="Объект 2"/>
          <p:cNvSpPr>
            <a:spLocks noGrp="1"/>
          </p:cNvSpPr>
          <p:nvPr>
            <p:ph idx="1"/>
          </p:nvPr>
        </p:nvSpPr>
        <p:spPr/>
        <p:txBody>
          <a:bodyPr/>
          <a:lstStyle/>
          <a:p>
            <a:r>
              <a:rPr lang="uz-Latn-UZ" dirty="0"/>
              <a:t>Diodli to’g’rilagichlarda to’g’rilangan kuchlanishni rostlash uchun o’zgaruvchan tok zanjirida avtotransformator yoki to’g’rilangan tok zanjirida reostat yordamida kuchlanishni o’zgartirish kerak. Elektr energiya ko’p isrof bo’lgani uchun ikkala usulning foydali ish koeffitsienti past bo’ladi (ularda zamonaviy avtomatik rostlash sxemalarini qo’llash mumkin emas). SHu sababli, hozirda tiristorli boshqa-ruvchi to’g’rilagichlar juda keng tarqalgan </a:t>
            </a:r>
            <a:endParaRPr lang="ru-RU" dirty="0"/>
          </a:p>
        </p:txBody>
      </p:sp>
    </p:spTree>
    <p:extLst>
      <p:ext uri="{BB962C8B-B14F-4D97-AF65-F5344CB8AC3E}">
        <p14:creationId xmlns:p14="http://schemas.microsoft.com/office/powerpoint/2010/main" val="38081115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p:cNvPicPr>
          <p:nvPr>
            <p:ph idx="1"/>
          </p:nvPr>
        </p:nvPicPr>
        <p:blipFill>
          <a:blip r:embed="rId2"/>
          <a:srcRect/>
          <a:stretch>
            <a:fillRect/>
          </a:stretch>
        </p:blipFill>
        <p:spPr bwMode="auto">
          <a:xfrm>
            <a:off x="483326" y="444137"/>
            <a:ext cx="11051178" cy="5930537"/>
          </a:xfrm>
          <a:prstGeom prst="rect">
            <a:avLst/>
          </a:prstGeom>
          <a:noFill/>
          <a:ln w="9525">
            <a:noFill/>
            <a:miter lim="800000"/>
            <a:headEnd/>
            <a:tailEnd/>
          </a:ln>
        </p:spPr>
      </p:pic>
    </p:spTree>
    <p:extLst>
      <p:ext uri="{BB962C8B-B14F-4D97-AF65-F5344CB8AC3E}">
        <p14:creationId xmlns:p14="http://schemas.microsoft.com/office/powerpoint/2010/main" val="46528694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Натуральные материалы">
  <a:themeElements>
    <a:clrScheme name="Натуральные материалы">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Натуральные материалы">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Натуральные материалы">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3129</TotalTime>
  <Words>490</Words>
  <Application>Microsoft Office PowerPoint</Application>
  <PresentationFormat>Широкоэкранный</PresentationFormat>
  <Paragraphs>42</Paragraphs>
  <Slides>21</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21</vt:i4>
      </vt:variant>
    </vt:vector>
  </HeadingPairs>
  <TitlesOfParts>
    <vt:vector size="27" baseType="lpstr">
      <vt:lpstr>Arial</vt:lpstr>
      <vt:lpstr>Calibri</vt:lpstr>
      <vt:lpstr>Garamond</vt:lpstr>
      <vt:lpstr>Tahoma</vt:lpstr>
      <vt:lpstr>Times New Roman</vt:lpstr>
      <vt:lpstr>Натуральные материалы</vt:lpstr>
      <vt:lpstr>Презентация PowerPoint</vt:lpstr>
      <vt:lpstr>Мавзу: Ўзгарувчан токни тўғрилаш</vt:lpstr>
      <vt:lpstr>Reja:</vt:lpstr>
      <vt:lpstr>Презентация PowerPoint</vt:lpstr>
      <vt:lpstr>Презентация PowerPoint</vt:lpstr>
      <vt:lpstr>Асосий кисмлар</vt:lpstr>
      <vt:lpstr>Презентация PowerPoint</vt:lpstr>
      <vt:lpstr> Битта ярим даврли тўғирлагич. </vt:lpstr>
      <vt:lpstr> Кўприкли икки  ярим даврли тўғирлагич. </vt:lpstr>
      <vt:lpstr>Презентация PowerPoint</vt:lpstr>
      <vt:lpstr>Презентация PowerPoint</vt:lpstr>
      <vt:lpstr>Tekislovchi filtrlar.</vt:lpstr>
      <vt:lpstr>Презентация PowerPoint</vt:lpstr>
      <vt:lpstr>Презентация PowerPoint</vt:lpstr>
      <vt:lpstr>Презентация PowerPoint</vt:lpstr>
      <vt:lpstr>Qurilmaning tayyorlanish jarayoni:</vt:lpstr>
      <vt:lpstr>Презентация PowerPoint</vt:lpstr>
      <vt:lpstr>Презентация PowerPoint</vt:lpstr>
      <vt:lpstr>Презентация PowerPoint</vt:lpstr>
      <vt:lpstr>Tiristorli to’g’rilagich</vt:lpstr>
      <vt:lpstr>Презентация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Nozimjon</dc:creator>
  <cp:lastModifiedBy>lenovo</cp:lastModifiedBy>
  <cp:revision>105</cp:revision>
  <dcterms:created xsi:type="dcterms:W3CDTF">2015-03-16T03:32:31Z</dcterms:created>
  <dcterms:modified xsi:type="dcterms:W3CDTF">2021-11-02T05:58:02Z</dcterms:modified>
</cp:coreProperties>
</file>