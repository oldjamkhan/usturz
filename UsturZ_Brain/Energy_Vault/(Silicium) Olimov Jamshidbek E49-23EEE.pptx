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5"/>
  </p:notesMasterIdLst>
  <p:sldIdLst>
    <p:sldId id="267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‘rtacha uslub 2 - Urg‘u belgi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-618" y="-11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uqori kolontitul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3" name="Sana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635C9-8D46-934F-B7B0-31792C467E4B}" type="datetimeFigureOut">
              <a:rPr lang="uz-Latn-UZ" smtClean="0"/>
              <a:t>16/05/2024</a:t>
            </a:fld>
            <a:endParaRPr lang="uz-Latn-UZ"/>
          </a:p>
        </p:txBody>
      </p:sp>
      <p:sp>
        <p:nvSpPr>
          <p:cNvPr id="4" name="Slayd obrazi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z-Latn-UZ"/>
          </a:p>
        </p:txBody>
      </p:sp>
      <p:sp>
        <p:nvSpPr>
          <p:cNvPr id="5" name="Eslatmala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z-Latn-UZ"/>
              <a:t>Matn uslublarini tahrirlash uchun bosing</a:t>
            </a:r>
          </a:p>
          <a:p>
            <a:pPr lvl="1"/>
            <a:r>
              <a:rPr lang="uz-Latn-UZ"/>
              <a:t>Ikkinchi daraja</a:t>
            </a:r>
          </a:p>
          <a:p>
            <a:pPr lvl="2"/>
            <a:r>
              <a:rPr lang="uz-Latn-UZ"/>
              <a:t>Uchinchi daraja</a:t>
            </a:r>
          </a:p>
          <a:p>
            <a:pPr lvl="3"/>
            <a:r>
              <a:rPr lang="uz-Latn-UZ"/>
              <a:t>To‘rtinchi daraja</a:t>
            </a:r>
          </a:p>
          <a:p>
            <a:pPr lvl="4"/>
            <a:r>
              <a:rPr lang="uz-Latn-UZ"/>
              <a:t>Beshinchi daraja</a:t>
            </a:r>
          </a:p>
        </p:txBody>
      </p:sp>
      <p:sp>
        <p:nvSpPr>
          <p:cNvPr id="6" name="Pastki kolontitul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7" name="Slayd raqami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B3032-492A-8C48-BF7C-6BB7B4F4CD67}" type="slidenum">
              <a:rPr lang="uz-Latn-UZ" smtClean="0"/>
              <a:t>‹#›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179782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31521"/>
            <a:ext cx="12435840" cy="512064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11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5943600"/>
            <a:ext cx="10241280" cy="1463040"/>
          </a:xfrm>
        </p:spPr>
        <p:txBody>
          <a:bodyPr>
            <a:normAutofit/>
          </a:bodyPr>
          <a:lstStyle>
            <a:lvl1pPr marL="0" indent="0" algn="ctr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1645921"/>
            <a:ext cx="12435840" cy="3006090"/>
          </a:xfrm>
        </p:spPr>
        <p:txBody>
          <a:bodyPr anchor="b"/>
          <a:lstStyle>
            <a:lvl1pPr algn="ctr" defTabSz="130622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9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4882516"/>
            <a:ext cx="12435840" cy="1358264"/>
          </a:xfrm>
        </p:spPr>
        <p:txBody>
          <a:bodyPr anchor="t"/>
          <a:lstStyle>
            <a:lvl1pPr marL="0" indent="0" algn="ctr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7" name="Oval 6"/>
          <p:cNvSpPr/>
          <p:nvPr/>
        </p:nvSpPr>
        <p:spPr>
          <a:xfrm>
            <a:off x="7193280" y="4709160"/>
            <a:ext cx="135635" cy="1017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513320" y="4709160"/>
            <a:ext cx="135635" cy="1017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874765" y="4709160"/>
            <a:ext cx="135635" cy="1017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34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85216" y="1920240"/>
            <a:ext cx="6466637" cy="543153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6464301" cy="731520"/>
          </a:xfrm>
        </p:spPr>
        <p:txBody>
          <a:bodyPr anchor="b">
            <a:noAutofit/>
          </a:bodyPr>
          <a:lstStyle>
            <a:lvl1pPr marL="0" indent="0" algn="ctr">
              <a:buNone/>
              <a:defRPr sz="3400" b="0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7121" y="1920240"/>
            <a:ext cx="6466840" cy="731520"/>
          </a:xfrm>
        </p:spPr>
        <p:txBody>
          <a:bodyPr anchor="b">
            <a:noAutofit/>
          </a:bodyPr>
          <a:lstStyle>
            <a:lvl1pPr marL="0" indent="0" algn="ctr">
              <a:buNone/>
              <a:defRPr sz="3400" b="0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731520" y="2655418"/>
            <a:ext cx="6466637" cy="469635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7476134" y="2655418"/>
            <a:ext cx="6466637" cy="469582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1340" y="320040"/>
            <a:ext cx="4813301" cy="2514600"/>
          </a:xfrm>
        </p:spPr>
        <p:txBody>
          <a:bodyPr anchor="b"/>
          <a:lstStyle>
            <a:lvl1pPr algn="ctr">
              <a:lnSpc>
                <a:spcPct val="100000"/>
              </a:lnSpc>
              <a:defRPr sz="40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620" y="327660"/>
            <a:ext cx="7993381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51340" y="2926080"/>
            <a:ext cx="4813301" cy="4425316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7322" y="274320"/>
            <a:ext cx="9138918" cy="1074420"/>
          </a:xfrm>
        </p:spPr>
        <p:txBody>
          <a:bodyPr anchor="b"/>
          <a:lstStyle>
            <a:lvl1pPr algn="ctr">
              <a:lnSpc>
                <a:spcPct val="10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13002" y="1371600"/>
            <a:ext cx="9687558" cy="544925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7322" y="6972300"/>
            <a:ext cx="9138918" cy="640080"/>
          </a:xfrm>
        </p:spPr>
        <p:txBody>
          <a:bodyPr>
            <a:normAutofit/>
          </a:bodyPr>
          <a:lstStyle>
            <a:lvl1pPr marL="0" indent="0" algn="ctr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0"/>
            <a:ext cx="13167360" cy="1920240"/>
          </a:xfrm>
          <a:prstGeom prst="rect">
            <a:avLst/>
          </a:prstGeom>
        </p:spPr>
        <p:txBody>
          <a:bodyPr vert="horz" lIns="130622" tIns="65311" rIns="130622" bIns="65311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22" tIns="65311" rIns="130622" bIns="65311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81356" y="7627621"/>
            <a:ext cx="3337560" cy="438150"/>
          </a:xfrm>
          <a:prstGeom prst="rect">
            <a:avLst/>
          </a:prstGeom>
        </p:spPr>
        <p:txBody>
          <a:bodyPr vert="horz" lIns="130622" tIns="65311" rIns="65311" bIns="65311" rtlCol="0" anchor="ctr"/>
          <a:lstStyle>
            <a:lvl1pPr algn="r">
              <a:defRPr sz="17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5/16/2024</a:t>
            </a:fld>
            <a:endParaRPr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54665" y="7627621"/>
            <a:ext cx="4556760" cy="438150"/>
          </a:xfrm>
          <a:prstGeom prst="rect">
            <a:avLst/>
          </a:prstGeom>
        </p:spPr>
        <p:txBody>
          <a:bodyPr vert="horz" lIns="65311" tIns="65311" rIns="130622" bIns="65311" rtlCol="0" anchor="ctr"/>
          <a:lstStyle>
            <a:lvl1pPr algn="l">
              <a:defRPr sz="17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kumimoji="0"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669246" y="7627621"/>
            <a:ext cx="899160" cy="438150"/>
          </a:xfrm>
          <a:prstGeom prst="rect">
            <a:avLst/>
          </a:prstGeom>
        </p:spPr>
        <p:txBody>
          <a:bodyPr vert="horz" lIns="39187" tIns="65311" rIns="65311" bIns="65311" rtlCol="0" anchor="ctr"/>
          <a:lstStyle>
            <a:lvl1pPr algn="l">
              <a:defRPr sz="17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3532416" y="7799261"/>
            <a:ext cx="135635" cy="1017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marL="0" algn="ctr" defTabSz="1306220" rtl="0" eaLnBrk="1" latinLnBrk="0" hangingPunct="1"/>
            <a:endParaRPr lang="en-US" sz="26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0591" y="7799261"/>
            <a:ext cx="135635" cy="1017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ctr" defTabSz="1306220" rtl="0" eaLnBrk="1" latinLnBrk="0" hangingPunct="1">
        <a:lnSpc>
          <a:spcPts val="8285"/>
        </a:lnSpc>
        <a:spcBef>
          <a:spcPct val="0"/>
        </a:spcBef>
        <a:buNone/>
        <a:defRPr sz="77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489833" indent="-489833" algn="l" defTabSz="130622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1061304" indent="-408194" algn="l" defTabSz="1306220" rtl="0" eaLnBrk="1" latinLnBrk="0" hangingPunct="1">
        <a:spcBef>
          <a:spcPct val="20000"/>
        </a:spcBef>
        <a:buFont typeface="Courier New" pitchFamily="49" charset="0"/>
        <a:buChar char="o"/>
        <a:defRPr sz="23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63277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2285886" indent="-326555" algn="l" defTabSz="1306220" rtl="0" eaLnBrk="1" latinLnBrk="0" hangingPunct="1">
        <a:spcBef>
          <a:spcPct val="20000"/>
        </a:spcBef>
        <a:buFont typeface="Courier New" pitchFamily="49" charset="0"/>
        <a:buChar char="o"/>
        <a:defRPr sz="23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93899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3592106" indent="-326555" algn="l" defTabSz="1306220" rtl="0" eaLnBrk="1" latinLnBrk="0" hangingPunct="1">
        <a:spcBef>
          <a:spcPct val="20000"/>
        </a:spcBef>
        <a:buFont typeface="Courier New" pitchFamily="49" charset="0"/>
        <a:buChar char="o"/>
        <a:defRPr sz="23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424521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4898327" indent="-326555" algn="l" defTabSz="1306220" rtl="0" eaLnBrk="1" latinLnBrk="0" hangingPunct="1">
        <a:spcBef>
          <a:spcPct val="20000"/>
        </a:spcBef>
        <a:buFont typeface="Courier New" pitchFamily="49" charset="0"/>
        <a:buChar char="o"/>
        <a:defRPr sz="23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5551437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7A3CFDD-0833-5318-74BE-48528C860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61885"/>
            <a:ext cx="14630400" cy="5114741"/>
          </a:xfrm>
        </p:spPr>
        <p:txBody>
          <a:bodyPr/>
          <a:lstStyle/>
          <a:p>
            <a:pPr algn="ctr"/>
            <a:r>
              <a:rPr lang="uz-Latn-UZ" sz="5300" b="1" i="1" dirty="0"/>
              <a:t>FERGANA POLYTECHNIC INSTITUTE</a:t>
            </a:r>
            <a:br>
              <a:rPr lang="uz-Latn-UZ" sz="5300" b="1" i="1" dirty="0"/>
            </a:br>
            <a:r>
              <a:rPr lang="uz-Latn-UZ" sz="5300" i="1" dirty="0"/>
              <a:t>ENERGY FACULTY </a:t>
            </a:r>
            <a:r>
              <a:rPr lang="en-US" sz="5300" i="1" dirty="0"/>
              <a:t/>
            </a:r>
            <a:br>
              <a:rPr lang="en-US" sz="5300" i="1" dirty="0"/>
            </a:br>
            <a:r>
              <a:rPr lang="en-US" sz="5300" i="1" dirty="0" smtClean="0">
                <a:latin typeface="+mj-lt"/>
              </a:rPr>
              <a:t>The </a:t>
            </a:r>
            <a:r>
              <a:rPr lang="en-US" sz="5300" i="1" dirty="0">
                <a:latin typeface="+mj-lt"/>
              </a:rPr>
              <a:t>department of </a:t>
            </a:r>
            <a:r>
              <a:rPr lang="en-US" sz="5300" i="1" dirty="0" smtClean="0">
                <a:latin typeface="+mj-lt"/>
              </a:rPr>
              <a:t>EEE</a:t>
            </a:r>
            <a:r>
              <a:rPr lang="uz-Latn-UZ" sz="5300" b="1" i="1" dirty="0"/>
              <a:t/>
            </a:r>
            <a:br>
              <a:rPr lang="uz-Latn-UZ" sz="5300" b="1" i="1" dirty="0"/>
            </a:br>
            <a:r>
              <a:rPr lang="uz-Latn-UZ" sz="5300" b="1" i="1" dirty="0"/>
              <a:t> </a:t>
            </a:r>
            <a:r>
              <a:rPr lang="uz-Latn-UZ" sz="5300" b="1" i="1" dirty="0"/>
              <a:t>E49-23</a:t>
            </a:r>
            <a:r>
              <a:rPr lang="en-US" sz="5300" i="1" dirty="0"/>
              <a:t> </a:t>
            </a:r>
            <a:r>
              <a:rPr lang="uz-Latn-UZ" sz="5300" b="1" i="1" dirty="0"/>
              <a:t>GROUP</a:t>
            </a:r>
            <a:r>
              <a:rPr lang="en-US" sz="5300" b="1" i="1" dirty="0"/>
              <a:t> of</a:t>
            </a:r>
            <a:r>
              <a:rPr lang="en-US" sz="5300" i="1" dirty="0"/>
              <a:t> </a:t>
            </a:r>
            <a:r>
              <a:rPr lang="uz-Latn-UZ" sz="5300" b="1" i="1" dirty="0"/>
              <a:t>STUDENT</a:t>
            </a:r>
            <a:r>
              <a:rPr lang="en-US" sz="5300" b="1" i="1" dirty="0"/>
              <a:t/>
            </a:r>
            <a:br>
              <a:rPr lang="en-US" sz="5300" b="1" i="1" dirty="0"/>
            </a:br>
            <a:r>
              <a:rPr lang="uz-Latn-UZ" sz="5300" b="1" i="1" dirty="0"/>
              <a:t> </a:t>
            </a:r>
            <a:r>
              <a:rPr lang="en-US" sz="5300" b="1" i="1" dirty="0" smtClean="0"/>
              <a:t>OLIMOV JAMSHIDBEK</a:t>
            </a:r>
            <a:endParaRPr lang="ru-RU" sz="5300" i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2F190263-8700-38B7-EEA0-69FB3DF3E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5564" y="5828562"/>
            <a:ext cx="6710186" cy="1705568"/>
          </a:xfrm>
        </p:spPr>
        <p:txBody>
          <a:bodyPr>
            <a:normAutofit fontScale="70000" lnSpcReduction="20000"/>
          </a:bodyPr>
          <a:lstStyle/>
          <a:p>
            <a:pPr algn="ctr"/>
            <a:endParaRPr lang="en-US" sz="4200" i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uz-Latn-UZ" sz="4200" i="1" dirty="0">
                <a:solidFill>
                  <a:schemeClr val="tx1"/>
                </a:solidFill>
              </a:rPr>
              <a:t>Subject:</a:t>
            </a:r>
            <a:r>
              <a:rPr lang="en-US" sz="4200" i="1" dirty="0">
                <a:solidFill>
                  <a:schemeClr val="tx1"/>
                </a:solidFill>
              </a:rPr>
              <a:t>E</a:t>
            </a:r>
            <a:r>
              <a:rPr lang="uz-Latn-UZ" sz="4200" i="1" dirty="0">
                <a:solidFill>
                  <a:schemeClr val="tx1"/>
                </a:solidFill>
              </a:rPr>
              <a:t>lectro technical materials</a:t>
            </a:r>
          </a:p>
          <a:p>
            <a:pPr algn="r"/>
            <a:r>
              <a:rPr lang="uz-Latn-UZ" sz="4200" i="1" dirty="0">
                <a:solidFill>
                  <a:schemeClr val="tx1"/>
                </a:solidFill>
              </a:rPr>
              <a:t>Topic</a:t>
            </a:r>
            <a:r>
              <a:rPr lang="uz-Latn-UZ" sz="4200" i="1" dirty="0" smtClean="0">
                <a:solidFill>
                  <a:schemeClr val="tx1"/>
                </a:solidFill>
              </a:rPr>
              <a:t>:</a:t>
            </a:r>
            <a:r>
              <a:rPr lang="en-US" sz="4200" i="1" dirty="0">
                <a:solidFill>
                  <a:schemeClr val="tx1"/>
                </a:solidFill>
              </a:rPr>
              <a:t> </a:t>
            </a:r>
            <a:r>
              <a:rPr lang="en-US" sz="4200" i="1" dirty="0" err="1" smtClean="0">
                <a:solidFill>
                  <a:schemeClr val="tx1"/>
                </a:solidFill>
              </a:rPr>
              <a:t>Silicium</a:t>
            </a:r>
            <a:r>
              <a:rPr lang="en-US" sz="4200" i="1" dirty="0" smtClean="0">
                <a:solidFill>
                  <a:schemeClr val="tx1"/>
                </a:solidFill>
              </a:rPr>
              <a:t> materials</a:t>
            </a:r>
            <a:endParaRPr lang="ru-RU" sz="4200" i="1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791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8073" y="2820335"/>
            <a:ext cx="11948160" cy="5147186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Introduction to </a:t>
            </a:r>
            <a:r>
              <a:rPr lang="en-US" sz="3600" dirty="0" err="1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Silicium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Atomic Structure and Properties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Occurrence and Abundance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Extraction and Purification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Crystalline and Amorphous Forms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Applications in Electronics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Uses in Solar Energy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 err="1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Silicium</a:t>
            </a:r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Compounds and Derivatives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Environmental Impact and Sustainability</a:t>
            </a:r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Future Developments and </a:t>
            </a:r>
            <a:r>
              <a:rPr lang="en-US" sz="3600" dirty="0" smtClean="0">
                <a:solidFill>
                  <a:schemeClr val="tx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Research</a:t>
            </a:r>
            <a:endParaRPr lang="en-US" i="1" dirty="0" smtClean="0">
              <a:solidFill>
                <a:schemeClr val="tx2"/>
              </a:solidFill>
            </a:endParaRPr>
          </a:p>
          <a:p>
            <a:endParaRPr lang="ru-RU" i="1" dirty="0" smtClean="0">
              <a:solidFill>
                <a:schemeClr val="tx2"/>
              </a:solidFill>
            </a:endParaRP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366345" y="647811"/>
            <a:ext cx="9595945" cy="775597"/>
          </a:xfrm>
          <a:prstGeom prst="rect">
            <a:avLst/>
          </a:prstGeom>
        </p:spPr>
        <p:txBody>
          <a:bodyPr wrap="square" lIns="109728" tIns="54864" rIns="109728" bIns="54864">
            <a:spAutoFit/>
          </a:bodyPr>
          <a:lstStyle/>
          <a:p>
            <a:pPr algn="ctr"/>
            <a:r>
              <a:rPr lang="en-US" sz="4300" dirty="0" smtClean="0">
                <a:solidFill>
                  <a:schemeClr val="tx2"/>
                </a:solidFill>
              </a:rPr>
              <a:t>Contents</a:t>
            </a:r>
            <a:r>
              <a:rPr lang="en-US" sz="4300" dirty="0">
                <a:solidFill>
                  <a:schemeClr val="tx2"/>
                </a:solidFill>
              </a:rPr>
              <a:t>:</a:t>
            </a:r>
            <a:endParaRPr lang="en-US" sz="43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974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1959769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Introduction to Silicium</a:t>
            </a:r>
            <a:endParaRPr lang="en-US" sz="6036" dirty="0"/>
          </a:p>
        </p:txBody>
      </p:sp>
      <p:sp>
        <p:nvSpPr>
          <p:cNvPr id="6" name="Text 2"/>
          <p:cNvSpPr/>
          <p:nvPr/>
        </p:nvSpPr>
        <p:spPr>
          <a:xfrm>
            <a:off x="833199" y="4209455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Silicium, also known as silicon, is a vital element that has played a crucial role in the development of modern technology. This abundant metalloid is a key component in semiconductor devices, solar cells, and countless other applications that power our digital world.</a:t>
            </a:r>
            <a:endParaRPr lang="en-US" sz="1750" dirty="0"/>
          </a:p>
        </p:txBody>
      </p:sp>
      <p:pic>
        <p:nvPicPr>
          <p:cNvPr id="11" name="Rasm 10">
            <a:extLst>
              <a:ext uri="{FF2B5EF4-FFF2-40B4-BE49-F238E27FC236}">
                <a16:creationId xmlns:a16="http://schemas.microsoft.com/office/drawing/2014/main" xmlns="" id="{6071D5F9-8A3F-8A25-9389-E43269569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604" y="1"/>
            <a:ext cx="6755796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0" y="0"/>
            <a:ext cx="74776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Atomic Structure and Properties</a:t>
            </a:r>
            <a:endParaRPr lang="en-US" sz="4374" dirty="0"/>
          </a:p>
        </p:txBody>
      </p:sp>
      <p:sp>
        <p:nvSpPr>
          <p:cNvPr id="6" name="Text 2"/>
          <p:cNvSpPr/>
          <p:nvPr/>
        </p:nvSpPr>
        <p:spPr>
          <a:xfrm rot="10800000" flipV="1">
            <a:off x="7315200" y="1743789"/>
            <a:ext cx="7122200" cy="9497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 has a </a:t>
            </a:r>
            <a:r>
              <a:rPr lang="en-US" sz="1750" b="1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crystalline structure</a:t>
            </a: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 consisting of interlocking </a:t>
            </a:r>
            <a:r>
              <a:rPr lang="en-US" sz="1750" b="1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tetrahedra</a:t>
            </a: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 of silicon atoms.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315200" y="3348196"/>
            <a:ext cx="7122200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It is a </a:t>
            </a:r>
            <a:r>
              <a:rPr lang="en-US" sz="1750" b="1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semiconductor</a:t>
            </a: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 with </a:t>
            </a:r>
            <a:r>
              <a:rPr lang="en-US" sz="1750" b="1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electrical properties</a:t>
            </a: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 that can be precisely controlled and </a:t>
            </a:r>
            <a:r>
              <a:rPr lang="en-US" sz="1750" b="1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tuned</a:t>
            </a: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 for various applications.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315200" y="4732210"/>
            <a:ext cx="7122200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 exhibits </a:t>
            </a:r>
            <a:r>
              <a:rPr lang="en-US" sz="1750" b="1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high thermal and electrical conductivity</a:t>
            </a: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, as well as </a:t>
            </a:r>
            <a:r>
              <a:rPr lang="en-US" sz="1750" b="1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mechanical strength</a:t>
            </a: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 and </a:t>
            </a:r>
            <a:r>
              <a:rPr lang="en-US" sz="1750" b="1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hardness</a:t>
            </a: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.</a:t>
            </a:r>
            <a:endParaRPr lang="en-US" sz="1750" dirty="0"/>
          </a:p>
        </p:txBody>
      </p:sp>
      <p:pic>
        <p:nvPicPr>
          <p:cNvPr id="10" name="Rasm 9">
            <a:extLst>
              <a:ext uri="{FF2B5EF4-FFF2-40B4-BE49-F238E27FC236}">
                <a16:creationId xmlns:a16="http://schemas.microsoft.com/office/drawing/2014/main" xmlns="" id="{ABA01189-0197-1AD1-98DE-921D275F8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15199" cy="8229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1642" y="621309"/>
            <a:ext cx="49672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Occurrence and Abundance</a:t>
            </a:r>
            <a:endParaRPr lang="en-US" sz="4374" dirty="0"/>
          </a:p>
        </p:txBody>
      </p:sp>
      <p:sp>
        <p:nvSpPr>
          <p:cNvPr id="6" name="Text 2"/>
          <p:cNvSpPr/>
          <p:nvPr/>
        </p:nvSpPr>
        <p:spPr>
          <a:xfrm rot="10800000" flipV="1">
            <a:off x="833198" y="2631363"/>
            <a:ext cx="5295317" cy="53420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 is the second most abundant element in the Earth's crust, making up around 28% of its composition. It is primarily found in the form of silicon dioxide (SiO2), commonly known as quartz, sand, and rock.</a:t>
            </a:r>
            <a:endParaRPr lang="en-US" sz="1750" dirty="0"/>
          </a:p>
        </p:txBody>
      </p:sp>
      <p:pic>
        <p:nvPicPr>
          <p:cNvPr id="7" name="Rasm 6">
            <a:extLst>
              <a:ext uri="{FF2B5EF4-FFF2-40B4-BE49-F238E27FC236}">
                <a16:creationId xmlns:a16="http://schemas.microsoft.com/office/drawing/2014/main" xmlns="" id="{CF02017A-08A8-FB53-C0E9-868253A71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57" y="0"/>
            <a:ext cx="8727556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0724" y="580311"/>
            <a:ext cx="6833116" cy="6596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93"/>
              </a:lnSpc>
              <a:buNone/>
            </a:pPr>
            <a:r>
              <a:rPr lang="en-US" sz="4155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Extraction and Purification</a:t>
            </a:r>
            <a:endParaRPr lang="en-US" sz="4155" dirty="0"/>
          </a:p>
        </p:txBody>
      </p:sp>
      <p:sp>
        <p:nvSpPr>
          <p:cNvPr id="6" name="Shape 2"/>
          <p:cNvSpPr/>
          <p:nvPr/>
        </p:nvSpPr>
        <p:spPr>
          <a:xfrm>
            <a:off x="1326237" y="1556504"/>
            <a:ext cx="42148" cy="6095881"/>
          </a:xfrm>
          <a:prstGeom prst="roundRect">
            <a:avLst>
              <a:gd name="adj" fmla="val 225341"/>
            </a:avLst>
          </a:prstGeom>
          <a:solidFill>
            <a:srgbClr val="6D4562"/>
          </a:solidFill>
          <a:ln/>
        </p:spPr>
      </p:sp>
      <p:sp>
        <p:nvSpPr>
          <p:cNvPr id="7" name="Shape 3"/>
          <p:cNvSpPr/>
          <p:nvPr/>
        </p:nvSpPr>
        <p:spPr>
          <a:xfrm>
            <a:off x="1584722" y="1937623"/>
            <a:ext cx="738664" cy="42148"/>
          </a:xfrm>
          <a:prstGeom prst="roundRect">
            <a:avLst>
              <a:gd name="adj" fmla="val 225341"/>
            </a:avLst>
          </a:prstGeom>
          <a:solidFill>
            <a:srgbClr val="6D4562"/>
          </a:solidFill>
          <a:ln/>
        </p:spPr>
      </p:sp>
      <p:sp>
        <p:nvSpPr>
          <p:cNvPr id="8" name="Shape 4"/>
          <p:cNvSpPr/>
          <p:nvPr/>
        </p:nvSpPr>
        <p:spPr>
          <a:xfrm>
            <a:off x="1109901" y="1721406"/>
            <a:ext cx="474821" cy="474821"/>
          </a:xfrm>
          <a:prstGeom prst="roundRect">
            <a:avLst>
              <a:gd name="adj" fmla="val 2000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288018" y="1760934"/>
            <a:ext cx="118467" cy="3956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16"/>
              </a:lnSpc>
              <a:buNone/>
            </a:pPr>
            <a:r>
              <a:rPr lang="en-US" sz="249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2493" dirty="0"/>
          </a:p>
        </p:txBody>
      </p:sp>
      <p:sp>
        <p:nvSpPr>
          <p:cNvPr id="10" name="Text 6"/>
          <p:cNvSpPr/>
          <p:nvPr/>
        </p:nvSpPr>
        <p:spPr>
          <a:xfrm>
            <a:off x="2508052" y="1767483"/>
            <a:ext cx="2827139" cy="3298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97"/>
              </a:lnSpc>
              <a:buNone/>
            </a:pPr>
            <a:r>
              <a:rPr lang="en-US" sz="2077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Mining and Extraction</a:t>
            </a:r>
            <a:endParaRPr lang="en-US" sz="2077" dirty="0"/>
          </a:p>
        </p:txBody>
      </p:sp>
      <p:sp>
        <p:nvSpPr>
          <p:cNvPr id="11" name="Text 7"/>
          <p:cNvSpPr/>
          <p:nvPr/>
        </p:nvSpPr>
        <p:spPr>
          <a:xfrm>
            <a:off x="2508052" y="2097286"/>
            <a:ext cx="10585371" cy="1189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59"/>
              </a:lnSpc>
              <a:buNone/>
            </a:pPr>
            <a:r>
              <a:rPr lang="en-US" sz="1662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 is primarily extracted from quartz and sand deposits through mining operations, which involve mechanical and chemical processing to isolate the pure silicon.</a:t>
            </a:r>
            <a:endParaRPr lang="en-US" sz="1662" dirty="0"/>
          </a:p>
        </p:txBody>
      </p:sp>
      <p:sp>
        <p:nvSpPr>
          <p:cNvPr id="12" name="Shape 8"/>
          <p:cNvSpPr/>
          <p:nvPr/>
        </p:nvSpPr>
        <p:spPr>
          <a:xfrm>
            <a:off x="1584722" y="4039910"/>
            <a:ext cx="738664" cy="42148"/>
          </a:xfrm>
          <a:prstGeom prst="roundRect">
            <a:avLst>
              <a:gd name="adj" fmla="val 225341"/>
            </a:avLst>
          </a:prstGeom>
          <a:solidFill>
            <a:srgbClr val="6D4562"/>
          </a:solidFill>
          <a:ln/>
        </p:spPr>
      </p:sp>
      <p:sp>
        <p:nvSpPr>
          <p:cNvPr id="13" name="Shape 9"/>
          <p:cNvSpPr/>
          <p:nvPr/>
        </p:nvSpPr>
        <p:spPr>
          <a:xfrm>
            <a:off x="1109901" y="3823692"/>
            <a:ext cx="474821" cy="474821"/>
          </a:xfrm>
          <a:prstGeom prst="roundRect">
            <a:avLst>
              <a:gd name="adj" fmla="val 2000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54681" y="3863221"/>
            <a:ext cx="185142" cy="3956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16"/>
              </a:lnSpc>
              <a:buNone/>
            </a:pPr>
            <a:r>
              <a:rPr lang="en-US" sz="249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2493" dirty="0"/>
          </a:p>
        </p:txBody>
      </p:sp>
      <p:sp>
        <p:nvSpPr>
          <p:cNvPr id="15" name="Text 11"/>
          <p:cNvSpPr/>
          <p:nvPr/>
        </p:nvSpPr>
        <p:spPr>
          <a:xfrm>
            <a:off x="2508052" y="3869769"/>
            <a:ext cx="2638187" cy="3298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97"/>
              </a:lnSpc>
              <a:buNone/>
            </a:pPr>
            <a:r>
              <a:rPr lang="en-US" sz="2077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Purification</a:t>
            </a:r>
            <a:endParaRPr lang="en-US" sz="2077" dirty="0"/>
          </a:p>
        </p:txBody>
      </p:sp>
      <p:sp>
        <p:nvSpPr>
          <p:cNvPr id="16" name="Text 12"/>
          <p:cNvSpPr/>
          <p:nvPr/>
        </p:nvSpPr>
        <p:spPr>
          <a:xfrm>
            <a:off x="2508052" y="4326136"/>
            <a:ext cx="10585371" cy="10292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59"/>
              </a:lnSpc>
              <a:buNone/>
            </a:pPr>
            <a:r>
              <a:rPr lang="en-US" sz="1662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extracted silicon is then purified through a series of processes, including smelting, chemical reactions, and distillation, to remove impurities and achieve the high purity required for industrial applications.</a:t>
            </a:r>
            <a:endParaRPr lang="en-US" sz="1662" dirty="0"/>
          </a:p>
        </p:txBody>
      </p:sp>
      <p:sp>
        <p:nvSpPr>
          <p:cNvPr id="17" name="Shape 13"/>
          <p:cNvSpPr/>
          <p:nvPr/>
        </p:nvSpPr>
        <p:spPr>
          <a:xfrm>
            <a:off x="1584722" y="6142196"/>
            <a:ext cx="738664" cy="42148"/>
          </a:xfrm>
          <a:prstGeom prst="roundRect">
            <a:avLst>
              <a:gd name="adj" fmla="val 225341"/>
            </a:avLst>
          </a:prstGeom>
          <a:solidFill>
            <a:srgbClr val="6D4562"/>
          </a:solidFill>
          <a:ln/>
        </p:spPr>
      </p:sp>
      <p:sp>
        <p:nvSpPr>
          <p:cNvPr id="18" name="Shape 14"/>
          <p:cNvSpPr/>
          <p:nvPr/>
        </p:nvSpPr>
        <p:spPr>
          <a:xfrm>
            <a:off x="1109901" y="5925979"/>
            <a:ext cx="474821" cy="474821"/>
          </a:xfrm>
          <a:prstGeom prst="roundRect">
            <a:avLst>
              <a:gd name="adj" fmla="val 2000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55514" y="5965508"/>
            <a:ext cx="183594" cy="3956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16"/>
              </a:lnSpc>
              <a:buNone/>
            </a:pPr>
            <a:r>
              <a:rPr lang="en-US" sz="249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2493" dirty="0"/>
          </a:p>
        </p:txBody>
      </p:sp>
      <p:sp>
        <p:nvSpPr>
          <p:cNvPr id="20" name="Text 16"/>
          <p:cNvSpPr/>
          <p:nvPr/>
        </p:nvSpPr>
        <p:spPr>
          <a:xfrm>
            <a:off x="2508052" y="5972056"/>
            <a:ext cx="2638187" cy="3298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97"/>
              </a:lnSpc>
              <a:buNone/>
            </a:pPr>
            <a:r>
              <a:rPr lang="en-US" sz="2077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Crystallization</a:t>
            </a:r>
            <a:endParaRPr lang="en-US" sz="2077" dirty="0"/>
          </a:p>
        </p:txBody>
      </p:sp>
      <p:sp>
        <p:nvSpPr>
          <p:cNvPr id="21" name="Text 17"/>
          <p:cNvSpPr/>
          <p:nvPr/>
        </p:nvSpPr>
        <p:spPr>
          <a:xfrm>
            <a:off x="2508052" y="6428423"/>
            <a:ext cx="10585371" cy="118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59"/>
              </a:lnSpc>
              <a:buNone/>
            </a:pPr>
            <a:r>
              <a:rPr lang="en-US" sz="1662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purified silicon is then melted and allowed to slowly crystallize, forming high-quality silicon ingots or wafers that can be used in the production of semiconductor devices and solar cells.</a:t>
            </a:r>
            <a:endParaRPr lang="en-US" sz="1662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24376" y="976908"/>
            <a:ext cx="918841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Crystalline and Amorphous Forms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2226707"/>
            <a:ext cx="1938933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Crystalline Structure</a:t>
            </a:r>
            <a:endParaRPr lang="en-US" sz="2187" dirty="0"/>
          </a:p>
        </p:txBody>
      </p:sp>
      <p:sp>
        <p:nvSpPr>
          <p:cNvPr id="6" name="Text 3"/>
          <p:cNvSpPr/>
          <p:nvPr/>
        </p:nvSpPr>
        <p:spPr>
          <a:xfrm>
            <a:off x="2624377" y="3143250"/>
            <a:ext cx="1938932" cy="2794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 can form a highly ordered, crystalline structure characterized by a repeating pattern of silicon atoms. This arrangement gives the material unique mechanical and electrical properties.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112901" y="2226707"/>
            <a:ext cx="1938933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Amorphous Silicium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5112901" y="3143251"/>
            <a:ext cx="2074785" cy="3206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In contrast, amorphous silicium lacks the long-range atomic order of the crystalline form. It has a more random, glass-like structure, which results in different, often more flexible, characteristics.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601426" y="2226707"/>
            <a:ext cx="193893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Applications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7601426" y="2796064"/>
            <a:ext cx="1938933" cy="355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Crystalline silicium is widely used in semiconductor devices and solar cells, while amorphous forms find applications in thin-film electronics, coatings, and insulation materials.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089952" y="2226707"/>
            <a:ext cx="1938933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Production Methods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10089952" y="3143249"/>
            <a:ext cx="1938933" cy="5086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Crystalline silicium is typically grown from molten silicon, while amorphous forms are often deposited using techniques like chemical vapor deposition or sputtering.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24376" y="745927"/>
            <a:ext cx="721721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Applications in Electronics</a:t>
            </a:r>
            <a:endParaRPr lang="en-US" sz="437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6" y="1884640"/>
            <a:ext cx="2095381" cy="12950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24376" y="3457337"/>
            <a:ext cx="2910374" cy="657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Semiconductor Devices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624376" y="4284940"/>
            <a:ext cx="2428636" cy="2670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 is the foundation of modern electronics, used extensively in integrated circuits, transistors, and microprocessors that power a wide range of electronic devices.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012" y="1884640"/>
            <a:ext cx="2095500" cy="12950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53012" y="3457337"/>
            <a:ext cx="20955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Solar Cells</a:t>
            </a:r>
            <a:endParaRPr lang="en-US" sz="2187" dirty="0"/>
          </a:p>
        </p:txBody>
      </p:sp>
      <p:sp>
        <p:nvSpPr>
          <p:cNvPr id="10" name="Text 5"/>
          <p:cNvSpPr/>
          <p:nvPr/>
        </p:nvSpPr>
        <p:spPr>
          <a:xfrm>
            <a:off x="5053012" y="3937754"/>
            <a:ext cx="2359820" cy="30177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Highly pure, crystalline silicium is a crucial material in the manufacture of efficient, cost-effective solar cells, driving the growth of renewable solar energy technology.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768" y="1884640"/>
            <a:ext cx="2095500" cy="12950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81768" y="3457337"/>
            <a:ext cx="20955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Sensors and Detectors</a:t>
            </a:r>
            <a:endParaRPr lang="en-US" sz="2187" dirty="0"/>
          </a:p>
        </p:txBody>
      </p:sp>
      <p:sp>
        <p:nvSpPr>
          <p:cNvPr id="13" name="Text 7"/>
          <p:cNvSpPr/>
          <p:nvPr/>
        </p:nvSpPr>
        <p:spPr>
          <a:xfrm>
            <a:off x="7481767" y="4284941"/>
            <a:ext cx="2359821" cy="2670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Silicium-based sensors and detectors are ubiquitous in modern electronics, enabling a vast array of applications from medical imaging to environmental monitoring.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0524" y="1884640"/>
            <a:ext cx="2095500" cy="129504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910524" y="3457337"/>
            <a:ext cx="2982686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Computer Chips</a:t>
            </a:r>
            <a:endParaRPr lang="en-US" sz="2187" dirty="0"/>
          </a:p>
        </p:txBody>
      </p:sp>
      <p:sp>
        <p:nvSpPr>
          <p:cNvPr id="16" name="Text 9"/>
          <p:cNvSpPr/>
          <p:nvPr/>
        </p:nvSpPr>
        <p:spPr>
          <a:xfrm>
            <a:off x="9910523" y="4284941"/>
            <a:ext cx="2622185" cy="2060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ability to precisely control the electrical properties of silicium has made it the foundation for the microprocessors and memory chips that power our computers and digital devices.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7901" y="991560"/>
            <a:ext cx="557379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Uses in Solar Energy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1097548" y="2318746"/>
            <a:ext cx="4419838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Silicium is the backbone of the photovoltaic industry, powering the solar cells that convert sunlight into electricity. Its semiconductor properties and ability to absorb a wide range of the solar spectrum make it an ideal material for solar panel production.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97548" y="5380851"/>
            <a:ext cx="4419838" cy="13414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Highly purified, crystalline silicium provides the foundation for efficient, cost-effective solar cells that are central to the growth of renewable energy technologies worldwide.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213" y="1"/>
            <a:ext cx="7738391" cy="8229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97004" y="602813"/>
            <a:ext cx="9236273" cy="1367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383"/>
              </a:lnSpc>
              <a:buNone/>
            </a:pPr>
            <a:r>
              <a:rPr lang="en-US" sz="4306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Silicium Compounds and Derivatives</a:t>
            </a:r>
            <a:endParaRPr lang="en-US" sz="4306" dirty="0"/>
          </a:p>
        </p:txBody>
      </p:sp>
      <p:sp>
        <p:nvSpPr>
          <p:cNvPr id="5" name="Shape 2"/>
          <p:cNvSpPr/>
          <p:nvPr/>
        </p:nvSpPr>
        <p:spPr>
          <a:xfrm>
            <a:off x="2697004" y="2407325"/>
            <a:ext cx="4508778" cy="2325410"/>
          </a:xfrm>
          <a:prstGeom prst="roundRect">
            <a:avLst>
              <a:gd name="adj" fmla="val 423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519845" y="2499690"/>
            <a:ext cx="2863096" cy="3418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91"/>
              </a:lnSpc>
              <a:buNone/>
            </a:pPr>
            <a:r>
              <a:rPr lang="en-US" sz="215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Silicon Dioxide (SiO2)</a:t>
            </a:r>
            <a:endParaRPr lang="en-US" sz="2153" dirty="0"/>
          </a:p>
        </p:txBody>
      </p:sp>
      <p:sp>
        <p:nvSpPr>
          <p:cNvPr id="7" name="Text 4"/>
          <p:cNvSpPr/>
          <p:nvPr/>
        </p:nvSpPr>
        <p:spPr>
          <a:xfrm>
            <a:off x="3036511" y="2841518"/>
            <a:ext cx="4282440" cy="1008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6"/>
              </a:lnSpc>
              <a:buNone/>
            </a:pPr>
            <a:r>
              <a:rPr lang="en-US" sz="1722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most common silicium compound, found naturally as quartz, sand, and glass. It has widespread use in construction, electronics, and as a key ingredient in ceramics.</a:t>
            </a:r>
            <a:endParaRPr lang="en-US" sz="1722" dirty="0"/>
          </a:p>
        </p:txBody>
      </p:sp>
      <p:sp>
        <p:nvSpPr>
          <p:cNvPr id="8" name="Shape 5"/>
          <p:cNvSpPr/>
          <p:nvPr/>
        </p:nvSpPr>
        <p:spPr>
          <a:xfrm>
            <a:off x="7424499" y="2407325"/>
            <a:ext cx="4508778" cy="2325410"/>
          </a:xfrm>
          <a:prstGeom prst="roundRect">
            <a:avLst>
              <a:gd name="adj" fmla="val 423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6864" y="2462749"/>
            <a:ext cx="2734389" cy="3418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91"/>
              </a:lnSpc>
              <a:buNone/>
            </a:pPr>
            <a:r>
              <a:rPr lang="en-US" sz="215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Silicones</a:t>
            </a:r>
            <a:endParaRPr lang="en-US" sz="2153" dirty="0"/>
          </a:p>
        </p:txBody>
      </p:sp>
      <p:sp>
        <p:nvSpPr>
          <p:cNvPr id="10" name="Text 7"/>
          <p:cNvSpPr/>
          <p:nvPr/>
        </p:nvSpPr>
        <p:spPr>
          <a:xfrm>
            <a:off x="7682522" y="2835441"/>
            <a:ext cx="4501157" cy="786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6"/>
              </a:lnSpc>
              <a:buNone/>
            </a:pPr>
            <a:r>
              <a:rPr lang="en-US" sz="1722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Synthetic polymers containing silicon-oxygen backbones. Used in sealants, lubricants, adhesives, and as key components in medical devices and personal care products.</a:t>
            </a:r>
            <a:endParaRPr lang="en-US" sz="1722" dirty="0"/>
          </a:p>
        </p:txBody>
      </p:sp>
      <p:sp>
        <p:nvSpPr>
          <p:cNvPr id="11" name="Shape 8"/>
          <p:cNvSpPr/>
          <p:nvPr/>
        </p:nvSpPr>
        <p:spPr>
          <a:xfrm>
            <a:off x="2697004" y="4951452"/>
            <a:ext cx="4508778" cy="2675334"/>
          </a:xfrm>
          <a:prstGeom prst="roundRect">
            <a:avLst>
              <a:gd name="adj" fmla="val 368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23492" y="5112561"/>
            <a:ext cx="2734389" cy="3418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91"/>
              </a:lnSpc>
              <a:buNone/>
            </a:pPr>
            <a:r>
              <a:rPr lang="en-US" sz="215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Silicides</a:t>
            </a:r>
            <a:endParaRPr lang="en-US" sz="2153" dirty="0"/>
          </a:p>
        </p:txBody>
      </p:sp>
      <p:sp>
        <p:nvSpPr>
          <p:cNvPr id="13" name="Text 10"/>
          <p:cNvSpPr/>
          <p:nvPr/>
        </p:nvSpPr>
        <p:spPr>
          <a:xfrm>
            <a:off x="3036511" y="5454389"/>
            <a:ext cx="4056102" cy="16694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6"/>
              </a:lnSpc>
              <a:buNone/>
            </a:pPr>
            <a:r>
              <a:rPr lang="en-US" sz="1722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Compounds of silicium with more electropositive elements like metals. Exhibit high melting points and hardness, making them useful in high-temperature applications and refractory materials.</a:t>
            </a:r>
            <a:endParaRPr lang="en-US" sz="1722" dirty="0"/>
          </a:p>
        </p:txBody>
      </p:sp>
      <p:sp>
        <p:nvSpPr>
          <p:cNvPr id="14" name="Shape 11"/>
          <p:cNvSpPr/>
          <p:nvPr/>
        </p:nvSpPr>
        <p:spPr>
          <a:xfrm>
            <a:off x="7424499" y="4951452"/>
            <a:ext cx="4508778" cy="2675334"/>
          </a:xfrm>
          <a:prstGeom prst="roundRect">
            <a:avLst>
              <a:gd name="adj" fmla="val 368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6864" y="4990265"/>
            <a:ext cx="2734389" cy="3418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91"/>
              </a:lnSpc>
              <a:buNone/>
            </a:pPr>
            <a:r>
              <a:rPr lang="en-US" sz="215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Silanes</a:t>
            </a:r>
            <a:endParaRPr lang="en-US" sz="2153" dirty="0"/>
          </a:p>
        </p:txBody>
      </p:sp>
      <p:sp>
        <p:nvSpPr>
          <p:cNvPr id="16" name="Text 13"/>
          <p:cNvSpPr/>
          <p:nvPr/>
        </p:nvSpPr>
        <p:spPr>
          <a:xfrm>
            <a:off x="7650836" y="5456658"/>
            <a:ext cx="4508777" cy="923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6"/>
              </a:lnSpc>
              <a:buNone/>
            </a:pPr>
            <a:r>
              <a:rPr lang="en-US" sz="1722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Organosilicon compounds containing silicon-hydrogen bonds. Serve as precursors for producing silicium-based materials and as coupling agents in composite manufacturing.</a:t>
            </a:r>
            <a:endParaRPr lang="en-US" sz="1722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87259" y="459581"/>
            <a:ext cx="7055882" cy="1044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112"/>
              </a:lnSpc>
              <a:buNone/>
            </a:pPr>
            <a:r>
              <a:rPr lang="en-US" sz="3290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Environmental Impact and Sustainability</a:t>
            </a:r>
            <a:endParaRPr lang="en-US" sz="3290" dirty="0"/>
          </a:p>
        </p:txBody>
      </p:sp>
      <p:sp>
        <p:nvSpPr>
          <p:cNvPr id="5" name="Text 2"/>
          <p:cNvSpPr/>
          <p:nvPr/>
        </p:nvSpPr>
        <p:spPr>
          <a:xfrm>
            <a:off x="3787259" y="1838206"/>
            <a:ext cx="7055882" cy="802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5"/>
              </a:lnSpc>
              <a:buNone/>
            </a:pPr>
            <a:r>
              <a:rPr lang="en-US" sz="1316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widespread use of silicium has significant environmental implications. While silicium-based technologies enable advancements in renewable energy and electronics, the extraction and processing of the element can be energy-intensive and generate waste.</a:t>
            </a:r>
            <a:endParaRPr lang="en-US" sz="131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259" y="2828449"/>
            <a:ext cx="7055882" cy="39512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87259" y="6967657"/>
            <a:ext cx="7055882" cy="802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5"/>
              </a:lnSpc>
              <a:buNone/>
            </a:pPr>
            <a:r>
              <a:rPr lang="en-US" sz="1316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The industry is actively pursuing sustainable practices, including the use of renewable energy sources, water recycling, and waste minimization, to reduce the environmental impact of silicium production and processing.</a:t>
            </a:r>
            <a:endParaRPr lang="en-US" sz="1316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18234" y="559713"/>
            <a:ext cx="8593931" cy="127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008"/>
              </a:lnSpc>
              <a:buNone/>
            </a:pPr>
            <a:r>
              <a:rPr lang="en-US" sz="4007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Future Developments and Research</a:t>
            </a:r>
            <a:endParaRPr lang="en-US" sz="4007" dirty="0"/>
          </a:p>
        </p:txBody>
      </p:sp>
      <p:sp>
        <p:nvSpPr>
          <p:cNvPr id="5" name="Shape 2"/>
          <p:cNvSpPr/>
          <p:nvPr/>
        </p:nvSpPr>
        <p:spPr>
          <a:xfrm>
            <a:off x="3018234" y="2397919"/>
            <a:ext cx="457914" cy="457914"/>
          </a:xfrm>
          <a:prstGeom prst="roundRect">
            <a:avLst>
              <a:gd name="adj" fmla="val 2000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90042" y="2436019"/>
            <a:ext cx="114181" cy="381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05"/>
              </a:lnSpc>
              <a:buNone/>
            </a:pPr>
            <a:r>
              <a:rPr lang="en-US" sz="2404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2404" dirty="0"/>
          </a:p>
        </p:txBody>
      </p:sp>
      <p:sp>
        <p:nvSpPr>
          <p:cNvPr id="7" name="Text 4"/>
          <p:cNvSpPr/>
          <p:nvPr/>
        </p:nvSpPr>
        <p:spPr>
          <a:xfrm>
            <a:off x="3476148" y="2385028"/>
            <a:ext cx="3533894" cy="63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4"/>
              </a:lnSpc>
              <a:buNone/>
            </a:pPr>
            <a:r>
              <a:rPr lang="en-US" sz="200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Advancements in Semiconductor Design</a:t>
            </a:r>
            <a:endParaRPr lang="en-US" sz="2003" dirty="0"/>
          </a:p>
        </p:txBody>
      </p:sp>
      <p:sp>
        <p:nvSpPr>
          <p:cNvPr id="8" name="Text 5"/>
          <p:cNvSpPr/>
          <p:nvPr/>
        </p:nvSpPr>
        <p:spPr>
          <a:xfrm>
            <a:off x="3679627" y="3225879"/>
            <a:ext cx="3533894" cy="1303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64"/>
              </a:lnSpc>
              <a:buNone/>
            </a:pPr>
            <a:r>
              <a:rPr lang="en-US" sz="1603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Ongoing research aims to further miniaturize and optimize silicon-based transistors, enabling even more powerful and energy-efficient electronic devices.</a:t>
            </a:r>
            <a:endParaRPr lang="en-US" sz="1603" dirty="0"/>
          </a:p>
        </p:txBody>
      </p:sp>
      <p:sp>
        <p:nvSpPr>
          <p:cNvPr id="9" name="Shape 6"/>
          <p:cNvSpPr/>
          <p:nvPr/>
        </p:nvSpPr>
        <p:spPr>
          <a:xfrm>
            <a:off x="7416998" y="2397919"/>
            <a:ext cx="457914" cy="457914"/>
          </a:xfrm>
          <a:prstGeom prst="roundRect">
            <a:avLst>
              <a:gd name="adj" fmla="val 2000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56659" y="2436019"/>
            <a:ext cx="178594" cy="381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05"/>
              </a:lnSpc>
              <a:buNone/>
            </a:pPr>
            <a:r>
              <a:rPr lang="en-US" sz="2404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2404" dirty="0"/>
          </a:p>
        </p:txBody>
      </p:sp>
      <p:sp>
        <p:nvSpPr>
          <p:cNvPr id="11" name="Text 8"/>
          <p:cNvSpPr/>
          <p:nvPr/>
        </p:nvSpPr>
        <p:spPr>
          <a:xfrm>
            <a:off x="8078391" y="2308860"/>
            <a:ext cx="3533894" cy="63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4"/>
              </a:lnSpc>
              <a:buNone/>
            </a:pPr>
            <a:r>
              <a:rPr lang="en-US" sz="200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Emergence of Quantum Computing</a:t>
            </a:r>
            <a:endParaRPr lang="en-US" sz="2003" dirty="0"/>
          </a:p>
        </p:txBody>
      </p:sp>
      <p:sp>
        <p:nvSpPr>
          <p:cNvPr id="12" name="Text 9"/>
          <p:cNvSpPr/>
          <p:nvPr/>
        </p:nvSpPr>
        <p:spPr>
          <a:xfrm>
            <a:off x="8078391" y="3113553"/>
            <a:ext cx="3533894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64"/>
              </a:lnSpc>
              <a:buNone/>
            </a:pPr>
            <a:r>
              <a:rPr lang="en-US" sz="1603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Exploiting the unique quantum properties of silicon, researchers are developing revolutionary quantum computing technologies that could far exceed the capabilities of classical computers.</a:t>
            </a:r>
            <a:endParaRPr lang="en-US" sz="1603" dirty="0"/>
          </a:p>
        </p:txBody>
      </p:sp>
      <p:sp>
        <p:nvSpPr>
          <p:cNvPr id="13" name="Shape 10"/>
          <p:cNvSpPr/>
          <p:nvPr/>
        </p:nvSpPr>
        <p:spPr>
          <a:xfrm>
            <a:off x="3018234" y="5217200"/>
            <a:ext cx="457914" cy="457914"/>
          </a:xfrm>
          <a:prstGeom prst="roundRect">
            <a:avLst>
              <a:gd name="adj" fmla="val 2000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8609" y="5255300"/>
            <a:ext cx="177046" cy="381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05"/>
              </a:lnSpc>
              <a:buNone/>
            </a:pPr>
            <a:r>
              <a:rPr lang="en-US" sz="2404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2404" dirty="0"/>
          </a:p>
        </p:txBody>
      </p:sp>
      <p:sp>
        <p:nvSpPr>
          <p:cNvPr id="15" name="Text 12"/>
          <p:cNvSpPr/>
          <p:nvPr/>
        </p:nvSpPr>
        <p:spPr>
          <a:xfrm>
            <a:off x="3679627" y="5287089"/>
            <a:ext cx="3533894" cy="63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4"/>
              </a:lnSpc>
              <a:buNone/>
            </a:pPr>
            <a:r>
              <a:rPr lang="en-US" sz="200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Enhanced Solar Cell Efficiency</a:t>
            </a:r>
            <a:endParaRPr lang="en-US" sz="2003" dirty="0"/>
          </a:p>
        </p:txBody>
      </p:sp>
      <p:sp>
        <p:nvSpPr>
          <p:cNvPr id="16" name="Text 13"/>
          <p:cNvSpPr/>
          <p:nvPr/>
        </p:nvSpPr>
        <p:spPr>
          <a:xfrm>
            <a:off x="3679627" y="5923121"/>
            <a:ext cx="3533894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64"/>
              </a:lnSpc>
              <a:buNone/>
            </a:pPr>
            <a:r>
              <a:rPr lang="en-US" sz="1603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Scientists are exploring new silicon solar cell architectures and manufacturing techniques to boost the conversion efficiency of photovoltaic systems, driving down the cost of solar power.</a:t>
            </a:r>
            <a:endParaRPr lang="en-US" sz="1603" dirty="0"/>
          </a:p>
        </p:txBody>
      </p:sp>
      <p:sp>
        <p:nvSpPr>
          <p:cNvPr id="17" name="Shape 14"/>
          <p:cNvSpPr/>
          <p:nvPr/>
        </p:nvSpPr>
        <p:spPr>
          <a:xfrm>
            <a:off x="7416998" y="5217200"/>
            <a:ext cx="457914" cy="457914"/>
          </a:xfrm>
          <a:prstGeom prst="roundRect">
            <a:avLst>
              <a:gd name="adj" fmla="val 2000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52968" y="5255300"/>
            <a:ext cx="185857" cy="381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05"/>
              </a:lnSpc>
              <a:buNone/>
            </a:pPr>
            <a:r>
              <a:rPr lang="en-US" sz="2404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2404" dirty="0"/>
          </a:p>
        </p:txBody>
      </p:sp>
      <p:sp>
        <p:nvSpPr>
          <p:cNvPr id="19" name="Text 16"/>
          <p:cNvSpPr/>
          <p:nvPr/>
        </p:nvSpPr>
        <p:spPr>
          <a:xfrm>
            <a:off x="8078391" y="5287089"/>
            <a:ext cx="3430786" cy="3180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04"/>
              </a:lnSpc>
              <a:buNone/>
            </a:pPr>
            <a:r>
              <a:rPr lang="en-US" sz="2003" dirty="0">
                <a:solidFill>
                  <a:srgbClr val="DAD8E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Circular Economy Initiatives</a:t>
            </a:r>
            <a:endParaRPr lang="en-US" sz="2003" dirty="0"/>
          </a:p>
        </p:txBody>
      </p:sp>
      <p:sp>
        <p:nvSpPr>
          <p:cNvPr id="20" name="Text 17"/>
          <p:cNvSpPr/>
          <p:nvPr/>
        </p:nvSpPr>
        <p:spPr>
          <a:xfrm>
            <a:off x="8078391" y="5727144"/>
            <a:ext cx="3533894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64"/>
              </a:lnSpc>
              <a:buNone/>
            </a:pPr>
            <a:r>
              <a:rPr lang="en-US" sz="1603" dirty="0">
                <a:solidFill>
                  <a:srgbClr val="DAD8E9"/>
                </a:solidFill>
                <a:latin typeface="Mukta" pitchFamily="34" charset="0"/>
                <a:ea typeface="Mukta" pitchFamily="34" charset="-122"/>
                <a:cs typeface="Mukta" pitchFamily="34" charset="-120"/>
              </a:rPr>
              <a:t>Efforts are underway to develop sustainable recycling and reuse processes for silicon-containing materials, reducing waste and contributing to a more circular economy.</a:t>
            </a:r>
            <a:endParaRPr lang="en-US" sz="1603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DE645BB-9557-44A7-BF11-5C1EFEE7F3FA}"/>
              </a:ext>
            </a:extLst>
          </p:cNvPr>
          <p:cNvSpPr txBox="1"/>
          <p:nvPr/>
        </p:nvSpPr>
        <p:spPr>
          <a:xfrm>
            <a:off x="1682874" y="3119472"/>
            <a:ext cx="12114950" cy="2326791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 wrap="square" lIns="109728" tIns="54864" rIns="109728" bIns="54864">
            <a:spAutoFit/>
          </a:bodyPr>
          <a:lstStyle/>
          <a:p>
            <a:r>
              <a:rPr lang="uz-Latn-UZ" sz="7200" dirty="0">
                <a:solidFill>
                  <a:schemeClr val="tx2">
                    <a:lumMod val="50000"/>
                  </a:schemeClr>
                </a:solidFill>
              </a:rPr>
              <a:t>Thank you for your </a:t>
            </a:r>
            <a:r>
              <a:rPr lang="uz-Latn-UZ" sz="7200" dirty="0">
                <a:solidFill>
                  <a:schemeClr val="tx2">
                    <a:lumMod val="50000"/>
                  </a:schemeClr>
                </a:solidFill>
              </a:rPr>
              <a:t>attention</a:t>
            </a:r>
            <a:r>
              <a:rPr lang="en-US" sz="7200" dirty="0">
                <a:solidFill>
                  <a:schemeClr val="tx2">
                    <a:lumMod val="50000"/>
                  </a:schemeClr>
                </a:solidFill>
              </a:rPr>
              <a:t>!!!</a:t>
            </a:r>
            <a:endParaRPr lang="ru-RU" sz="7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261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mavzus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18</TotalTime>
  <Words>947</Words>
  <Application>Microsoft Office PowerPoint</Application>
  <PresentationFormat>Произвольный</PresentationFormat>
  <Paragraphs>90</Paragraphs>
  <Slides>13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Исполнительная</vt:lpstr>
      <vt:lpstr>FERGANA POLYTECHNIC INSTITUTE ENERGY FACULTY  The department of EEE  E49-23 GROUP of STUDENT  OLIMOV JAMSHIDBEK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Talaba</cp:lastModifiedBy>
  <cp:revision>11</cp:revision>
  <dcterms:created xsi:type="dcterms:W3CDTF">2024-05-14T07:47:08Z</dcterms:created>
  <dcterms:modified xsi:type="dcterms:W3CDTF">2024-05-16T08:07:03Z</dcterms:modified>
</cp:coreProperties>
</file>